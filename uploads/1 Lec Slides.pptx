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Consolas" panose="020B0609020204030204" pitchFamily="49" charset="0"/>
      <p:regular r:id="rId15"/>
      <p:bold r:id="rId16"/>
      <p:italic r:id="rId17"/>
      <p:boldItalic r:id="rId18"/>
    </p:embeddedFont>
    <p:embeddedFont>
      <p:font typeface="Playfair Display SemiBold" panose="020B0604020202020204" charset="0"/>
      <p:regular r:id="rId19"/>
    </p:embeddedFont>
    <p:embeddedFont>
      <p:font typeface="Public Sans" panose="020B0604020202020204" charset="0"/>
      <p:regular r:id="rId20"/>
    </p:embeddedFont>
    <p:embeddedFont>
      <p:font typeface="Public Sans Bold" panose="020B0604020202020204" charset="0"/>
      <p:regular r:id="rId2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0745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hyperlink" Target="https://gamma.app/?utm_source=made-with-gamma"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AF6"/>
          </a:solidFill>
          <a:ln/>
        </p:spPr>
        <p:txBody>
          <a:bodyPr/>
          <a:lstStyle/>
          <a:p>
            <a:endParaRPr lang="da-DK"/>
          </a:p>
        </p:txBody>
      </p:sp>
      <p:pic>
        <p:nvPicPr>
          <p:cNvPr id="4" name="Image 1" descr="preencoded.png">
            <a:hlinkClick r:id="rId3"/>
          </p:cNvPr>
          <p:cNvPicPr>
            <a:picLocks noChangeAspect="1"/>
          </p:cNvPicPr>
          <p:nvPr/>
        </p:nvPicPr>
        <p:blipFill>
          <a:blip r:embed="rId4"/>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FFFAF6"/>
          </a:solidFill>
          <a:ln/>
        </p:spPr>
      </p:sp>
      <p:pic>
        <p:nvPicPr>
          <p:cNvPr id="4" name="Image 1" descr="preencoded.png"/>
          <p:cNvPicPr>
            <a:picLocks noChangeAspect="1"/>
          </p:cNvPicPr>
          <p:nvPr/>
        </p:nvPicPr>
        <p:blipFill>
          <a:blip r:embed="rId3"/>
          <a:stretch>
            <a:fillRect/>
          </a:stretch>
        </p:blipFill>
        <p:spPr>
          <a:xfrm>
            <a:off x="0" y="0"/>
            <a:ext cx="12191695" cy="6858000"/>
          </a:xfrm>
          <a:prstGeom prst="rect">
            <a:avLst/>
          </a:prstGeom>
        </p:spPr>
      </p:pic>
      <p:sp>
        <p:nvSpPr>
          <p:cNvPr id="5" name="Shape 1"/>
          <p:cNvSpPr/>
          <p:nvPr/>
        </p:nvSpPr>
        <p:spPr>
          <a:xfrm>
            <a:off x="0" y="0"/>
            <a:ext cx="12191695" cy="6858000"/>
          </a:xfrm>
          <a:prstGeom prst="rect">
            <a:avLst/>
          </a:prstGeom>
          <a:solidFill>
            <a:srgbClr val="FFFAF6">
              <a:alpha val="85000"/>
            </a:srgbClr>
          </a:solidFill>
          <a:ln/>
        </p:spPr>
      </p:sp>
      <p:pic>
        <p:nvPicPr>
          <p:cNvPr id="6" name="Image 2" descr="preencoded.png">
            <a:hlinkClick r:id="rId4"/>
          </p:cNvPr>
          <p:cNvPicPr>
            <a:picLocks noChangeAspect="1"/>
          </p:cNvPicPr>
          <p:nvPr/>
        </p:nvPicPr>
        <p:blipFill>
          <a:blip r:embed="rId5"/>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6.svg"/><Relationship Id="rId4" Type="http://schemas.openxmlformats.org/officeDocument/2006/relationships/image" Target="../media/image15.svg"/></Relationships>
</file>

<file path=ppt/slides/_rels/slide11.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9.svg"/><Relationship Id="rId4" Type="http://schemas.openxmlformats.org/officeDocument/2006/relationships/image" Target="../media/image18.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029074" cy="6858000"/>
          </a:xfrm>
          <a:prstGeom prst="rect">
            <a:avLst/>
          </a:prstGeom>
          <a:solidFill>
            <a:srgbClr val="F0DEDC"/>
          </a:solidFill>
          <a:ln/>
        </p:spPr>
        <p:txBody>
          <a:bodyPr/>
          <a:lstStyle/>
          <a:p>
            <a:endParaRPr lang="da-DK"/>
          </a:p>
        </p:txBody>
      </p:sp>
      <p:pic>
        <p:nvPicPr>
          <p:cNvPr id="3" name="Image 0" descr="preencoded.png"/>
          <p:cNvPicPr>
            <a:picLocks noChangeAspect="1"/>
          </p:cNvPicPr>
          <p:nvPr/>
        </p:nvPicPr>
        <p:blipFill>
          <a:blip r:embed="rId3"/>
          <a:stretch>
            <a:fillRect/>
          </a:stretch>
        </p:blipFill>
        <p:spPr>
          <a:xfrm>
            <a:off x="94553" y="799207"/>
            <a:ext cx="3944541" cy="5259586"/>
          </a:xfrm>
          <a:prstGeom prst="rect">
            <a:avLst/>
          </a:prstGeom>
        </p:spPr>
      </p:pic>
      <p:sp>
        <p:nvSpPr>
          <p:cNvPr id="4" name="Text 1"/>
          <p:cNvSpPr/>
          <p:nvPr/>
        </p:nvSpPr>
        <p:spPr>
          <a:xfrm>
            <a:off x="5233360" y="2394148"/>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4B6981"/>
                </a:solidFill>
                <a:latin typeface="Playfair Display SemiBold" pitchFamily="34" charset="0"/>
                <a:ea typeface="Playfair Display SemiBold" pitchFamily="34" charset="-122"/>
                <a:cs typeface="Playfair Display SemiBold" pitchFamily="34" charset="-120"/>
              </a:rPr>
              <a:t>Connecting With SQLite Database</a:t>
            </a:r>
            <a:endParaRPr lang="en-US" sz="3700" dirty="0"/>
          </a:p>
        </p:txBody>
      </p:sp>
      <p:sp>
        <p:nvSpPr>
          <p:cNvPr id="5" name="Text 2"/>
          <p:cNvSpPr/>
          <p:nvPr/>
        </p:nvSpPr>
        <p:spPr>
          <a:xfrm>
            <a:off x="5233360" y="3858915"/>
            <a:ext cx="6296860"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6F655D"/>
                </a:solidFill>
                <a:latin typeface="Public Sans" pitchFamily="34" charset="0"/>
                <a:ea typeface="Public Sans" pitchFamily="34" charset="-122"/>
                <a:cs typeface="Public Sans" pitchFamily="34" charset="-120"/>
              </a:rPr>
              <a:t>A step-by-step guide for students learning how to integrate SQLite into a Deno web application — from installation to displaying live data.</a:t>
            </a:r>
            <a:endParaRPr lang="en-US" sz="14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029074" cy="6858000"/>
          </a:xfrm>
          <a:prstGeom prst="rect">
            <a:avLst/>
          </a:prstGeom>
          <a:solidFill>
            <a:srgbClr val="F0DEDC"/>
          </a:solidFill>
          <a:ln/>
        </p:spPr>
        <p:txBody>
          <a:bodyPr/>
          <a:lstStyle/>
          <a:p>
            <a:endParaRPr lang="da-DK"/>
          </a:p>
        </p:txBody>
      </p:sp>
      <p:pic>
        <p:nvPicPr>
          <p:cNvPr id="3" name="Image 0" descr="preencoded.png"/>
          <p:cNvPicPr>
            <a:picLocks noChangeAspect="1"/>
          </p:cNvPicPr>
          <p:nvPr/>
        </p:nvPicPr>
        <p:blipFill>
          <a:blip r:embed="rId3"/>
          <a:stretch>
            <a:fillRect/>
          </a:stretch>
        </p:blipFill>
        <p:spPr>
          <a:xfrm>
            <a:off x="94553" y="799207"/>
            <a:ext cx="3944541" cy="5259586"/>
          </a:xfrm>
          <a:prstGeom prst="rect">
            <a:avLst/>
          </a:prstGeom>
        </p:spPr>
      </p:pic>
      <p:sp>
        <p:nvSpPr>
          <p:cNvPr id="4" name="Text 1"/>
          <p:cNvSpPr/>
          <p:nvPr/>
        </p:nvSpPr>
        <p:spPr>
          <a:xfrm>
            <a:off x="5233360" y="720328"/>
            <a:ext cx="6296860" cy="1181298"/>
          </a:xfrm>
          <a:prstGeom prst="rect">
            <a:avLst/>
          </a:prstGeom>
          <a:noFill/>
          <a:ln/>
        </p:spPr>
        <p:txBody>
          <a:bodyPr wrap="square" lIns="0" tIns="0" rIns="0" bIns="0" rtlCol="0" anchor="t">
            <a:normAutofit/>
          </a:bodyPr>
          <a:lstStyle/>
          <a:p>
            <a:pPr marL="0" indent="0" algn="l">
              <a:lnSpc>
                <a:spcPct val="104000"/>
              </a:lnSpc>
              <a:buNone/>
            </a:pPr>
            <a:r>
              <a:rPr lang="en-US" sz="3700" dirty="0">
                <a:solidFill>
                  <a:srgbClr val="4B6981"/>
                </a:solidFill>
                <a:latin typeface="Playfair Display SemiBold" pitchFamily="34" charset="0"/>
                <a:ea typeface="Playfair Display SemiBold" pitchFamily="34" charset="-122"/>
                <a:cs typeface="Playfair Display SemiBold" pitchFamily="34" charset="-120"/>
              </a:rPr>
              <a:t>Step 1: Install SQLite Package</a:t>
            </a:r>
            <a:endParaRPr lang="en-US" sz="3700" dirty="0"/>
          </a:p>
        </p:txBody>
      </p:sp>
      <p:sp>
        <p:nvSpPr>
          <p:cNvPr id="5" name="Text 2"/>
          <p:cNvSpPr/>
          <p:nvPr/>
        </p:nvSpPr>
        <p:spPr>
          <a:xfrm>
            <a:off x="5233360" y="2355155"/>
            <a:ext cx="2917851" cy="120967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6F655D"/>
                </a:solidFill>
                <a:latin typeface="Public Sans" pitchFamily="34" charset="0"/>
                <a:ea typeface="Public Sans" pitchFamily="34" charset="-122"/>
                <a:cs typeface="Public Sans" pitchFamily="34" charset="-120"/>
              </a:rPr>
              <a:t>Open the </a:t>
            </a:r>
            <a:r>
              <a:rPr lang="en-US" sz="1450" b="1" dirty="0">
                <a:solidFill>
                  <a:srgbClr val="6F655D"/>
                </a:solidFill>
                <a:latin typeface="Public Sans Bold" pitchFamily="34" charset="0"/>
                <a:ea typeface="Public Sans Bold" pitchFamily="34" charset="-122"/>
                <a:cs typeface="Public Sans Bold" pitchFamily="34" charset="-120"/>
              </a:rPr>
              <a:t>Visual Studio terminal</a:t>
            </a:r>
            <a:r>
              <a:rPr lang="en-US" sz="1450" dirty="0">
                <a:solidFill>
                  <a:srgbClr val="6F655D"/>
                </a:solidFill>
                <a:latin typeface="Public Sans" pitchFamily="34" charset="0"/>
                <a:ea typeface="Public Sans" pitchFamily="34" charset="-122"/>
                <a:cs typeface="Public Sans" pitchFamily="34" charset="-120"/>
              </a:rPr>
              <a:t> and run the following command to add the SQLite dependency to your Deno project:</a:t>
            </a:r>
            <a:endParaRPr lang="en-US" sz="1450" dirty="0"/>
          </a:p>
        </p:txBody>
      </p:sp>
      <p:sp>
        <p:nvSpPr>
          <p:cNvPr id="6" name="Shape 3"/>
          <p:cNvSpPr/>
          <p:nvPr/>
        </p:nvSpPr>
        <p:spPr>
          <a:xfrm>
            <a:off x="5233360" y="3777456"/>
            <a:ext cx="2917851" cy="680442"/>
          </a:xfrm>
          <a:prstGeom prst="roundRect">
            <a:avLst>
              <a:gd name="adj" fmla="val 11667"/>
            </a:avLst>
          </a:prstGeom>
          <a:solidFill>
            <a:srgbClr val="F2EDE9"/>
          </a:solidFill>
          <a:ln/>
        </p:spPr>
        <p:txBody>
          <a:bodyPr/>
          <a:lstStyle/>
          <a:p>
            <a:endParaRPr lang="da-DK"/>
          </a:p>
        </p:txBody>
      </p:sp>
      <p:sp>
        <p:nvSpPr>
          <p:cNvPr id="7" name="Text 4"/>
          <p:cNvSpPr/>
          <p:nvPr/>
        </p:nvSpPr>
        <p:spPr>
          <a:xfrm>
            <a:off x="5460169" y="3966468"/>
            <a:ext cx="3073819" cy="302419"/>
          </a:xfrm>
          <a:prstGeom prst="rect">
            <a:avLst/>
          </a:prstGeom>
          <a:noFill/>
          <a:ln/>
        </p:spPr>
        <p:txBody>
          <a:bodyPr wrap="none" lIns="0" tIns="0" rIns="0" bIns="0" rtlCol="0" anchor="t"/>
          <a:lstStyle/>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120"/>
              </a:rPr>
              <a:t>deno add jsr:@db/sqlite</a:t>
            </a:r>
            <a:endParaRPr lang="en-US" sz="1450" dirty="0"/>
          </a:p>
        </p:txBody>
      </p:sp>
      <p:sp>
        <p:nvSpPr>
          <p:cNvPr id="8" name="Text 5"/>
          <p:cNvSpPr/>
          <p:nvPr/>
        </p:nvSpPr>
        <p:spPr>
          <a:xfrm>
            <a:off x="5233360" y="4670524"/>
            <a:ext cx="2917851" cy="1216025"/>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6F655D"/>
                </a:solidFill>
                <a:latin typeface="Public Sans" pitchFamily="34" charset="0"/>
                <a:ea typeface="Public Sans" pitchFamily="34" charset="-122"/>
                <a:cs typeface="Public Sans" pitchFamily="34" charset="-120"/>
              </a:rPr>
              <a:t>This registers the </a:t>
            </a:r>
            <a:r>
              <a:rPr lang="en-US" sz="1450" dirty="0">
                <a:solidFill>
                  <a:srgbClr val="6F655D"/>
                </a:solidFill>
                <a:highlight>
                  <a:srgbClr val="F2EDE9"/>
                </a:highlight>
                <a:latin typeface="Consolas" pitchFamily="34" charset="0"/>
                <a:ea typeface="Consolas" pitchFamily="34" charset="-122"/>
                <a:cs typeface="Consolas" pitchFamily="34" charset="-120"/>
              </a:rPr>
              <a:t>@db/sqlite</a:t>
            </a:r>
            <a:r>
              <a:rPr lang="en-US" sz="1450" dirty="0">
                <a:solidFill>
                  <a:srgbClr val="6F655D"/>
                </a:solidFill>
                <a:latin typeface="Public Sans" pitchFamily="34" charset="0"/>
                <a:ea typeface="Public Sans" pitchFamily="34" charset="-122"/>
                <a:cs typeface="Public Sans" pitchFamily="34" charset="-120"/>
              </a:rPr>
              <a:t> package from the JSR registry and makes it available throughout your project.</a:t>
            </a:r>
            <a:endParaRPr lang="en-US" sz="1450" dirty="0"/>
          </a:p>
        </p:txBody>
      </p:sp>
      <p:sp>
        <p:nvSpPr>
          <p:cNvPr id="9" name="Shape 6"/>
          <p:cNvSpPr/>
          <p:nvPr/>
        </p:nvSpPr>
        <p:spPr>
          <a:xfrm>
            <a:off x="8618719" y="2397720"/>
            <a:ext cx="2917851" cy="1820366"/>
          </a:xfrm>
          <a:prstGeom prst="roundRect">
            <a:avLst>
              <a:gd name="adj" fmla="val 4361"/>
            </a:avLst>
          </a:prstGeom>
          <a:solidFill>
            <a:srgbClr val="FFFAF6"/>
          </a:solidFill>
          <a:ln w="25399">
            <a:solidFill>
              <a:srgbClr val="E1C2C2"/>
            </a:solidFill>
            <a:prstDash val="solid"/>
          </a:ln>
          <a:effectLst>
            <a:outerShdw blurRad="127" dist="24130" dir="2700000" algn="bl" rotWithShape="0">
              <a:srgbClr val="E1C2C2">
                <a:alpha val="100000"/>
              </a:srgbClr>
            </a:outerShdw>
          </a:effectLst>
        </p:spPr>
        <p:txBody>
          <a:bodyPr/>
          <a:lstStyle/>
          <a:p>
            <a:endParaRPr lang="da-DK"/>
          </a:p>
        </p:txBody>
      </p:sp>
      <p:sp>
        <p:nvSpPr>
          <p:cNvPr id="10" name="Text 7"/>
          <p:cNvSpPr/>
          <p:nvPr/>
        </p:nvSpPr>
        <p:spPr>
          <a:xfrm>
            <a:off x="8833125" y="2612132"/>
            <a:ext cx="2489039" cy="295275"/>
          </a:xfrm>
          <a:prstGeom prst="rect">
            <a:avLst/>
          </a:prstGeom>
          <a:noFill/>
          <a:ln/>
        </p:spPr>
        <p:txBody>
          <a:bodyPr wrap="none" lIns="0" tIns="0" rIns="0" bIns="0" rtlCol="0" anchor="t"/>
          <a:lstStyle/>
          <a:p>
            <a:pPr marL="0" indent="0" algn="l">
              <a:lnSpc>
                <a:spcPct val="104000"/>
              </a:lnSpc>
              <a:buNone/>
            </a:pPr>
            <a:r>
              <a:rPr lang="en-US" sz="1850" dirty="0">
                <a:solidFill>
                  <a:srgbClr val="6F655D"/>
                </a:solidFill>
                <a:latin typeface="Playfair Display SemiBold" pitchFamily="34" charset="0"/>
                <a:ea typeface="Playfair Display SemiBold" pitchFamily="34" charset="-122"/>
                <a:cs typeface="Playfair Display SemiBold" pitchFamily="34" charset="-120"/>
              </a:rPr>
              <a:t>What it does</a:t>
            </a:r>
            <a:endParaRPr lang="en-US" sz="1850" dirty="0"/>
          </a:p>
        </p:txBody>
      </p:sp>
      <p:sp>
        <p:nvSpPr>
          <p:cNvPr id="11" name="Text 8"/>
          <p:cNvSpPr/>
          <p:nvPr/>
        </p:nvSpPr>
        <p:spPr>
          <a:xfrm>
            <a:off x="8833125" y="3096419"/>
            <a:ext cx="2489039" cy="907256"/>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6F655D"/>
                </a:solidFill>
                <a:latin typeface="Public Sans" pitchFamily="34" charset="0"/>
                <a:ea typeface="Public Sans" pitchFamily="34" charset="-122"/>
                <a:cs typeface="Public Sans" pitchFamily="34" charset="-120"/>
              </a:rPr>
              <a:t>Adds the SQLite dependency to your project configuration</a:t>
            </a:r>
            <a:endParaRPr lang="en-US" sz="1450" dirty="0"/>
          </a:p>
        </p:txBody>
      </p:sp>
      <p:sp>
        <p:nvSpPr>
          <p:cNvPr id="12" name="Shape 9"/>
          <p:cNvSpPr/>
          <p:nvPr/>
        </p:nvSpPr>
        <p:spPr>
          <a:xfrm>
            <a:off x="8618719" y="4407098"/>
            <a:ext cx="2917851" cy="1517948"/>
          </a:xfrm>
          <a:prstGeom prst="roundRect">
            <a:avLst>
              <a:gd name="adj" fmla="val 5230"/>
            </a:avLst>
          </a:prstGeom>
          <a:solidFill>
            <a:srgbClr val="FFFAF6"/>
          </a:solidFill>
          <a:ln w="25399">
            <a:solidFill>
              <a:srgbClr val="CCC4EC"/>
            </a:solidFill>
            <a:prstDash val="solid"/>
          </a:ln>
          <a:effectLst>
            <a:outerShdw blurRad="127" dist="24130" dir="2700000" algn="bl" rotWithShape="0">
              <a:srgbClr val="CCC4EC">
                <a:alpha val="100000"/>
              </a:srgbClr>
            </a:outerShdw>
          </a:effectLst>
        </p:spPr>
        <p:txBody>
          <a:bodyPr/>
          <a:lstStyle/>
          <a:p>
            <a:endParaRPr lang="da-DK"/>
          </a:p>
        </p:txBody>
      </p:sp>
      <p:sp>
        <p:nvSpPr>
          <p:cNvPr id="13" name="Text 10"/>
          <p:cNvSpPr/>
          <p:nvPr/>
        </p:nvSpPr>
        <p:spPr>
          <a:xfrm>
            <a:off x="8833125" y="4621510"/>
            <a:ext cx="2489039" cy="295275"/>
          </a:xfrm>
          <a:prstGeom prst="rect">
            <a:avLst/>
          </a:prstGeom>
          <a:noFill/>
          <a:ln/>
        </p:spPr>
        <p:txBody>
          <a:bodyPr wrap="none" lIns="0" tIns="0" rIns="0" bIns="0" rtlCol="0" anchor="t"/>
          <a:lstStyle/>
          <a:p>
            <a:pPr marL="0" indent="0" algn="l">
              <a:lnSpc>
                <a:spcPct val="104000"/>
              </a:lnSpc>
              <a:buNone/>
            </a:pPr>
            <a:r>
              <a:rPr lang="en-US" sz="1850" dirty="0">
                <a:solidFill>
                  <a:srgbClr val="6F655D"/>
                </a:solidFill>
                <a:latin typeface="Playfair Display SemiBold" pitchFamily="34" charset="0"/>
                <a:ea typeface="Playfair Display SemiBold" pitchFamily="34" charset="-122"/>
                <a:cs typeface="Playfair Display SemiBold" pitchFamily="34" charset="-120"/>
              </a:rPr>
              <a:t>Where to run it</a:t>
            </a:r>
            <a:endParaRPr lang="en-US" sz="1850" dirty="0"/>
          </a:p>
        </p:txBody>
      </p:sp>
      <p:sp>
        <p:nvSpPr>
          <p:cNvPr id="14" name="Text 11"/>
          <p:cNvSpPr/>
          <p:nvPr/>
        </p:nvSpPr>
        <p:spPr>
          <a:xfrm>
            <a:off x="8833125" y="5105797"/>
            <a:ext cx="248903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6F655D"/>
                </a:solidFill>
                <a:latin typeface="Public Sans" pitchFamily="34" charset="0"/>
                <a:ea typeface="Public Sans" pitchFamily="34" charset="-122"/>
                <a:cs typeface="Public Sans" pitchFamily="34" charset="-120"/>
              </a:rPr>
              <a:t>In the integrated terminal inside Visual Studio Code</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027113"/>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B6981"/>
                </a:solidFill>
                <a:latin typeface="Playfair Display SemiBold" pitchFamily="34" charset="0"/>
                <a:ea typeface="Playfair Display SemiBold" pitchFamily="34" charset="-122"/>
                <a:cs typeface="Playfair Display SemiBold" pitchFamily="34" charset="-120"/>
              </a:rPr>
              <a:t>Step 2: Install SQLite Extension</a:t>
            </a:r>
            <a:endParaRPr lang="en-US" sz="3700" dirty="0"/>
          </a:p>
        </p:txBody>
      </p:sp>
      <p:pic>
        <p:nvPicPr>
          <p:cNvPr id="3" name="Image 0" descr="preencoded.png"/>
          <p:cNvPicPr>
            <a:picLocks noChangeAspect="1"/>
          </p:cNvPicPr>
          <p:nvPr/>
        </p:nvPicPr>
        <p:blipFill>
          <a:blip r:embed="rId3"/>
          <a:stretch>
            <a:fillRect/>
          </a:stretch>
        </p:blipFill>
        <p:spPr>
          <a:xfrm>
            <a:off x="661475" y="2113855"/>
            <a:ext cx="3504219" cy="3504307"/>
          </a:xfrm>
          <a:prstGeom prst="rect">
            <a:avLst/>
          </a:prstGeom>
        </p:spPr>
      </p:pic>
      <p:sp>
        <p:nvSpPr>
          <p:cNvPr id="4" name="Text 1"/>
          <p:cNvSpPr/>
          <p:nvPr/>
        </p:nvSpPr>
        <p:spPr>
          <a:xfrm>
            <a:off x="4633201" y="2308324"/>
            <a:ext cx="690326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6F655D"/>
                </a:solidFill>
                <a:latin typeface="Public Sans" pitchFamily="34" charset="0"/>
                <a:ea typeface="Public Sans" pitchFamily="34" charset="-122"/>
                <a:cs typeface="Public Sans" pitchFamily="34" charset="-120"/>
              </a:rPr>
              <a:t>Navigate to the </a:t>
            </a:r>
            <a:r>
              <a:rPr lang="en-US" sz="1450" b="1" dirty="0">
                <a:solidFill>
                  <a:srgbClr val="6F655D"/>
                </a:solidFill>
                <a:latin typeface="Public Sans Bold" pitchFamily="34" charset="0"/>
                <a:ea typeface="Public Sans Bold" pitchFamily="34" charset="-122"/>
                <a:cs typeface="Public Sans Bold" pitchFamily="34" charset="-120"/>
              </a:rPr>
              <a:t>Extensions</a:t>
            </a:r>
            <a:r>
              <a:rPr lang="en-US" sz="1450" dirty="0">
                <a:solidFill>
                  <a:srgbClr val="6F655D"/>
                </a:solidFill>
                <a:latin typeface="Public Sans" pitchFamily="34" charset="0"/>
                <a:ea typeface="Public Sans" pitchFamily="34" charset="-122"/>
                <a:cs typeface="Public Sans" pitchFamily="34" charset="-120"/>
              </a:rPr>
              <a:t> panel in Visual Studio Code and search for the </a:t>
            </a:r>
            <a:r>
              <a:rPr lang="en-US" sz="1450" b="1" dirty="0">
                <a:solidFill>
                  <a:srgbClr val="6F655D"/>
                </a:solidFill>
                <a:latin typeface="Public Sans Bold" pitchFamily="34" charset="0"/>
                <a:ea typeface="Public Sans Bold" pitchFamily="34" charset="-122"/>
                <a:cs typeface="Public Sans Bold" pitchFamily="34" charset="-120"/>
              </a:rPr>
              <a:t>SQLite extension</a:t>
            </a:r>
            <a:r>
              <a:rPr lang="en-US" sz="1450" dirty="0">
                <a:solidFill>
                  <a:srgbClr val="6F655D"/>
                </a:solidFill>
                <a:latin typeface="Public Sans" pitchFamily="34" charset="0"/>
                <a:ea typeface="Public Sans" pitchFamily="34" charset="-122"/>
                <a:cs typeface="Public Sans" pitchFamily="34" charset="-120"/>
              </a:rPr>
              <a:t>.</a:t>
            </a:r>
            <a:endParaRPr lang="en-US" sz="1450" dirty="0"/>
          </a:p>
        </p:txBody>
      </p:sp>
      <p:sp>
        <p:nvSpPr>
          <p:cNvPr id="5" name="Text 2"/>
          <p:cNvSpPr/>
          <p:nvPr/>
        </p:nvSpPr>
        <p:spPr>
          <a:xfrm>
            <a:off x="4633201" y="3083223"/>
            <a:ext cx="6903269" cy="104576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6F655D"/>
                </a:solidFill>
                <a:latin typeface="Public Sans" pitchFamily="34" charset="0"/>
                <a:ea typeface="Public Sans" pitchFamily="34" charset="-122"/>
                <a:cs typeface="Public Sans" pitchFamily="34" charset="-120"/>
              </a:rPr>
              <a:t>Provides database management tools directly inside your IDE</a:t>
            </a:r>
            <a:endParaRPr lang="en-US" sz="1450" dirty="0"/>
          </a:p>
          <a:p>
            <a:pPr marL="294640" indent="-294640" algn="l">
              <a:lnSpc>
                <a:spcPct val="133000"/>
              </a:lnSpc>
              <a:buSzPct val="100000"/>
              <a:buChar char="•"/>
            </a:pPr>
            <a:r>
              <a:rPr lang="en-US" sz="1450" dirty="0">
                <a:solidFill>
                  <a:srgbClr val="6F655D"/>
                </a:solidFill>
                <a:latin typeface="Public Sans" pitchFamily="34" charset="0"/>
                <a:ea typeface="Public Sans" pitchFamily="34" charset="-122"/>
                <a:cs typeface="Public Sans" pitchFamily="34" charset="-120"/>
              </a:rPr>
              <a:t>Allows you to browse, query, and inspect your </a:t>
            </a:r>
            <a:r>
              <a:rPr lang="en-US" sz="1450" dirty="0">
                <a:solidFill>
                  <a:srgbClr val="6F655D"/>
                </a:solidFill>
                <a:highlight>
                  <a:srgbClr val="F2EDE9"/>
                </a:highlight>
                <a:latin typeface="Consolas" pitchFamily="34" charset="0"/>
                <a:ea typeface="Consolas" pitchFamily="34" charset="-122"/>
                <a:cs typeface="Consolas" pitchFamily="34" charset="-120"/>
              </a:rPr>
              <a:t>.db</a:t>
            </a:r>
            <a:r>
              <a:rPr lang="en-US" sz="1450" dirty="0">
                <a:solidFill>
                  <a:srgbClr val="6F655D"/>
                </a:solidFill>
                <a:latin typeface="Public Sans" pitchFamily="34" charset="0"/>
                <a:ea typeface="Public Sans" pitchFamily="34" charset="-122"/>
                <a:cs typeface="Public Sans" pitchFamily="34" charset="-120"/>
              </a:rPr>
              <a:t> files visually</a:t>
            </a:r>
            <a:endParaRPr lang="en-US" sz="1450" dirty="0"/>
          </a:p>
          <a:p>
            <a:pPr marL="294640" indent="-294640" algn="l">
              <a:lnSpc>
                <a:spcPct val="133000"/>
              </a:lnSpc>
              <a:buSzPct val="100000"/>
              <a:buChar char="•"/>
            </a:pPr>
            <a:r>
              <a:rPr lang="en-US" sz="1450" dirty="0">
                <a:solidFill>
                  <a:srgbClr val="6F655D"/>
                </a:solidFill>
                <a:latin typeface="Public Sans" pitchFamily="34" charset="0"/>
                <a:ea typeface="Public Sans" pitchFamily="34" charset="-122"/>
                <a:cs typeface="Public Sans" pitchFamily="34" charset="-120"/>
              </a:rPr>
              <a:t>Makes debugging your database much easier during development</a:t>
            </a:r>
            <a:endParaRPr lang="en-US" sz="1450" dirty="0"/>
          </a:p>
        </p:txBody>
      </p:sp>
      <p:sp>
        <p:nvSpPr>
          <p:cNvPr id="6" name="Shape 3"/>
          <p:cNvSpPr/>
          <p:nvPr/>
        </p:nvSpPr>
        <p:spPr>
          <a:xfrm>
            <a:off x="4633201" y="4341614"/>
            <a:ext cx="6903269" cy="1039416"/>
          </a:xfrm>
          <a:prstGeom prst="roundRect">
            <a:avLst>
              <a:gd name="adj" fmla="val 7638"/>
            </a:avLst>
          </a:prstGeom>
          <a:solidFill>
            <a:srgbClr val="EEDDDD"/>
          </a:solidFill>
          <a:ln/>
        </p:spPr>
        <p:txBody>
          <a:bodyPr/>
          <a:lstStyle/>
          <a:p>
            <a:endParaRPr lang="da-DK"/>
          </a:p>
        </p:txBody>
      </p:sp>
      <p:pic>
        <p:nvPicPr>
          <p:cNvPr id="7" name="Image 1" descr="preencoded.png"/>
          <p:cNvPicPr>
            <a:picLocks noChangeAspect="1"/>
          </p:cNvPicPr>
          <p:nvPr/>
        </p:nvPicPr>
        <p:blipFill>
          <a:blip r:embed="rId4"/>
          <a:stretch>
            <a:fillRect/>
          </a:stretch>
        </p:blipFill>
        <p:spPr>
          <a:xfrm>
            <a:off x="4822208" y="4628356"/>
            <a:ext cx="236234" cy="189012"/>
          </a:xfrm>
          <a:prstGeom prst="rect">
            <a:avLst/>
          </a:prstGeom>
        </p:spPr>
      </p:pic>
      <p:sp>
        <p:nvSpPr>
          <p:cNvPr id="8" name="Text 4"/>
          <p:cNvSpPr/>
          <p:nvPr/>
        </p:nvSpPr>
        <p:spPr>
          <a:xfrm>
            <a:off x="5247449" y="4558903"/>
            <a:ext cx="6100015"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Public Sans" pitchFamily="34" charset="0"/>
                <a:ea typeface="Public Sans" pitchFamily="34" charset="-122"/>
                <a:cs typeface="Public Sans" pitchFamily="34" charset="-120"/>
              </a:rPr>
              <a:t>Installing this extension is not required to run your app, but it is highly recommended for inspecting your database during development.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22654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B6981"/>
                </a:solidFill>
                <a:latin typeface="Playfair Display SemiBold" pitchFamily="34" charset="0"/>
                <a:ea typeface="Playfair Display SemiBold" pitchFamily="34" charset="-122"/>
                <a:cs typeface="Playfair Display SemiBold" pitchFamily="34" charset="-120"/>
              </a:rPr>
              <a:t>Step 3: Create db.js File</a:t>
            </a:r>
            <a:endParaRPr lang="en-US" sz="3700" dirty="0"/>
          </a:p>
        </p:txBody>
      </p:sp>
      <p:sp>
        <p:nvSpPr>
          <p:cNvPr id="3" name="Text 1"/>
          <p:cNvSpPr/>
          <p:nvPr/>
        </p:nvSpPr>
        <p:spPr>
          <a:xfrm>
            <a:off x="661475" y="2195215"/>
            <a:ext cx="10868745" cy="61118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6F655D"/>
                </a:solidFill>
                <a:latin typeface="Public Sans" pitchFamily="34" charset="0"/>
                <a:ea typeface="Public Sans" pitchFamily="34" charset="-122"/>
                <a:cs typeface="Public Sans" pitchFamily="34" charset="-120"/>
              </a:rPr>
              <a:t>Inside your </a:t>
            </a:r>
            <a:r>
              <a:rPr lang="en-US" sz="1450" b="1" dirty="0">
                <a:solidFill>
                  <a:srgbClr val="6F655D"/>
                </a:solidFill>
                <a:latin typeface="Public Sans Bold" pitchFamily="34" charset="0"/>
                <a:ea typeface="Public Sans Bold" pitchFamily="34" charset="-122"/>
                <a:cs typeface="Public Sans Bold" pitchFamily="34" charset="-120"/>
              </a:rPr>
              <a:t>app folder</a:t>
            </a:r>
            <a:r>
              <a:rPr lang="en-US" sz="1450" dirty="0">
                <a:solidFill>
                  <a:srgbClr val="6F655D"/>
                </a:solidFill>
                <a:latin typeface="Public Sans" pitchFamily="34" charset="0"/>
                <a:ea typeface="Public Sans" pitchFamily="34" charset="-122"/>
                <a:cs typeface="Public Sans" pitchFamily="34" charset="-120"/>
              </a:rPr>
              <a:t>, create a new file called </a:t>
            </a:r>
            <a:r>
              <a:rPr lang="en-US" sz="1450" dirty="0">
                <a:solidFill>
                  <a:srgbClr val="6F655D"/>
                </a:solidFill>
                <a:highlight>
                  <a:srgbClr val="F2EDE9"/>
                </a:highlight>
                <a:latin typeface="Consolas" pitchFamily="34" charset="0"/>
                <a:ea typeface="Consolas" pitchFamily="34" charset="-122"/>
                <a:cs typeface="Consolas" pitchFamily="34" charset="-120"/>
              </a:rPr>
              <a:t>db.js</a:t>
            </a:r>
            <a:r>
              <a:rPr lang="en-US" sz="1450" dirty="0">
                <a:solidFill>
                  <a:srgbClr val="6F655D"/>
                </a:solidFill>
                <a:latin typeface="Public Sans" pitchFamily="34" charset="0"/>
                <a:ea typeface="Public Sans" pitchFamily="34" charset="-122"/>
                <a:cs typeface="Public Sans" pitchFamily="34" charset="-120"/>
              </a:rPr>
              <a:t>. This file will import the </a:t>
            </a:r>
            <a:r>
              <a:rPr lang="en-US" sz="1450" dirty="0">
                <a:solidFill>
                  <a:srgbClr val="6F655D"/>
                </a:solidFill>
                <a:highlight>
                  <a:srgbClr val="F2EDE9"/>
                </a:highlight>
                <a:latin typeface="Consolas" pitchFamily="34" charset="0"/>
                <a:ea typeface="Consolas" pitchFamily="34" charset="-122"/>
                <a:cs typeface="Consolas" pitchFamily="34" charset="-120"/>
              </a:rPr>
              <a:t>Database</a:t>
            </a:r>
            <a:r>
              <a:rPr lang="en-US" sz="1450" dirty="0">
                <a:solidFill>
                  <a:srgbClr val="6F655D"/>
                </a:solidFill>
                <a:latin typeface="Public Sans" pitchFamily="34" charset="0"/>
                <a:ea typeface="Public Sans" pitchFamily="34" charset="-122"/>
                <a:cs typeface="Public Sans" pitchFamily="34" charset="-120"/>
              </a:rPr>
              <a:t> class and export a shared database connection that the rest of your app can use.</a:t>
            </a:r>
            <a:endParaRPr lang="en-US" sz="1450" dirty="0"/>
          </a:p>
        </p:txBody>
      </p:sp>
      <p:sp>
        <p:nvSpPr>
          <p:cNvPr id="4" name="Shape 2"/>
          <p:cNvSpPr/>
          <p:nvPr/>
        </p:nvSpPr>
        <p:spPr>
          <a:xfrm>
            <a:off x="661475" y="3019028"/>
            <a:ext cx="10868745" cy="982861"/>
          </a:xfrm>
          <a:prstGeom prst="roundRect">
            <a:avLst>
              <a:gd name="adj" fmla="val 8077"/>
            </a:avLst>
          </a:prstGeom>
          <a:solidFill>
            <a:srgbClr val="F2EDE9"/>
          </a:solidFill>
          <a:ln/>
        </p:spPr>
        <p:txBody>
          <a:bodyPr/>
          <a:lstStyle/>
          <a:p>
            <a:endParaRPr lang="da-DK"/>
          </a:p>
        </p:txBody>
      </p:sp>
      <p:sp>
        <p:nvSpPr>
          <p:cNvPr id="5" name="Text 3"/>
          <p:cNvSpPr/>
          <p:nvPr/>
        </p:nvSpPr>
        <p:spPr>
          <a:xfrm>
            <a:off x="888283" y="3208040"/>
            <a:ext cx="10415129" cy="6048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D73A49"/>
                </a:solidFill>
                <a:latin typeface="Consolas" pitchFamily="34" charset="0"/>
                <a:ea typeface="Consolas" pitchFamily="34" charset="-122"/>
                <a:cs typeface="Consolas" pitchFamily="34" charset="-120"/>
              </a:rPr>
              <a:t>import { Database } from "@db/sqlite";</a:t>
            </a:r>
            <a:endParaRPr lang="en-US" sz="1450" dirty="0"/>
          </a:p>
          <a:p>
            <a:pPr marL="0" indent="0" algn="l">
              <a:lnSpc>
                <a:spcPct val="133000"/>
              </a:lnSpc>
              <a:buNone/>
            </a:pPr>
            <a:r>
              <a:rPr lang="en-US" sz="1450" dirty="0">
                <a:solidFill>
                  <a:srgbClr val="D73A49"/>
                </a:solidFill>
                <a:latin typeface="Consolas" pitchFamily="34" charset="0"/>
                <a:ea typeface="Consolas" pitchFamily="34" charset="-122"/>
                <a:cs typeface="Consolas" pitchFamily="34" charset="-120"/>
              </a:rPr>
              <a:t>export const db = new Database('studentsDB.db');</a:t>
            </a:r>
            <a:endParaRPr lang="en-US" sz="1450" dirty="0"/>
          </a:p>
        </p:txBody>
      </p:sp>
      <p:sp>
        <p:nvSpPr>
          <p:cNvPr id="6" name="Shape 4"/>
          <p:cNvSpPr/>
          <p:nvPr/>
        </p:nvSpPr>
        <p:spPr>
          <a:xfrm>
            <a:off x="661475" y="4214515"/>
            <a:ext cx="3496877" cy="1416943"/>
          </a:xfrm>
          <a:prstGeom prst="roundRect">
            <a:avLst>
              <a:gd name="adj" fmla="val 5603"/>
            </a:avLst>
          </a:prstGeom>
          <a:solidFill>
            <a:srgbClr val="E1C2C2">
              <a:alpha val="50000"/>
            </a:srgbClr>
          </a:solidFill>
          <a:ln w="6350">
            <a:solidFill>
              <a:srgbClr val="C7A8A8"/>
            </a:solidFill>
            <a:prstDash val="solid"/>
          </a:ln>
          <a:effectLst>
            <a:outerShdw blurRad="127" dist="24130" dir="2700000" algn="bl" rotWithShape="0">
              <a:srgbClr val="C7A8A8">
                <a:alpha val="100000"/>
              </a:srgbClr>
            </a:outerShdw>
          </a:effectLst>
        </p:spPr>
        <p:txBody>
          <a:bodyPr/>
          <a:lstStyle/>
          <a:p>
            <a:endParaRPr lang="da-DK"/>
          </a:p>
        </p:txBody>
      </p:sp>
      <p:sp>
        <p:nvSpPr>
          <p:cNvPr id="7" name="Text 5"/>
          <p:cNvSpPr/>
          <p:nvPr/>
        </p:nvSpPr>
        <p:spPr>
          <a:xfrm>
            <a:off x="856832" y="4409877"/>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000000"/>
                </a:solidFill>
                <a:latin typeface="Playfair Display SemiBold" pitchFamily="34" charset="0"/>
                <a:ea typeface="Playfair Display SemiBold" pitchFamily="34" charset="-122"/>
                <a:cs typeface="Playfair Display SemiBold" pitchFamily="34" charset="-120"/>
              </a:rPr>
              <a:t>Import</a:t>
            </a:r>
            <a:endParaRPr lang="en-US" sz="1850" dirty="0"/>
          </a:p>
        </p:txBody>
      </p:sp>
      <p:sp>
        <p:nvSpPr>
          <p:cNvPr id="8" name="Text 6"/>
          <p:cNvSpPr/>
          <p:nvPr/>
        </p:nvSpPr>
        <p:spPr>
          <a:xfrm>
            <a:off x="856832" y="4818559"/>
            <a:ext cx="3106164" cy="6175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Public Sans" pitchFamily="34" charset="0"/>
                <a:ea typeface="Public Sans" pitchFamily="34" charset="-122"/>
                <a:cs typeface="Public Sans" pitchFamily="34" charset="-120"/>
              </a:rPr>
              <a:t>Bring in the </a:t>
            </a:r>
            <a:r>
              <a:rPr lang="en-US" sz="1450" dirty="0">
                <a:solidFill>
                  <a:srgbClr val="000000"/>
                </a:solidFill>
                <a:highlight>
                  <a:srgbClr val="F2EDE9"/>
                </a:highlight>
                <a:latin typeface="Consolas" pitchFamily="34" charset="0"/>
                <a:ea typeface="Consolas" pitchFamily="34" charset="-122"/>
                <a:cs typeface="Consolas" pitchFamily="34" charset="-120"/>
              </a:rPr>
              <a:t>Database</a:t>
            </a:r>
            <a:r>
              <a:rPr lang="en-US" sz="1450" dirty="0">
                <a:solidFill>
                  <a:srgbClr val="000000"/>
                </a:solidFill>
                <a:latin typeface="Public Sans" pitchFamily="34" charset="0"/>
                <a:ea typeface="Public Sans" pitchFamily="34" charset="-122"/>
                <a:cs typeface="Public Sans" pitchFamily="34" charset="-120"/>
              </a:rPr>
              <a:t> class from the installed </a:t>
            </a:r>
            <a:r>
              <a:rPr lang="en-US" sz="1450" dirty="0">
                <a:solidFill>
                  <a:srgbClr val="000000"/>
                </a:solidFill>
                <a:highlight>
                  <a:srgbClr val="F2EDE9"/>
                </a:highlight>
                <a:latin typeface="Consolas" pitchFamily="34" charset="0"/>
                <a:ea typeface="Consolas" pitchFamily="34" charset="-122"/>
                <a:cs typeface="Consolas" pitchFamily="34" charset="-120"/>
              </a:rPr>
              <a:t>@db/sqlite</a:t>
            </a:r>
            <a:r>
              <a:rPr lang="en-US" sz="1450" dirty="0">
                <a:solidFill>
                  <a:srgbClr val="000000"/>
                </a:solidFill>
                <a:latin typeface="Public Sans" pitchFamily="34" charset="0"/>
                <a:ea typeface="Public Sans" pitchFamily="34" charset="-122"/>
                <a:cs typeface="Public Sans" pitchFamily="34" charset="-120"/>
              </a:rPr>
              <a:t> package</a:t>
            </a:r>
            <a:endParaRPr lang="en-US" sz="1450" dirty="0"/>
          </a:p>
        </p:txBody>
      </p:sp>
      <p:sp>
        <p:nvSpPr>
          <p:cNvPr id="9" name="Shape 7"/>
          <p:cNvSpPr/>
          <p:nvPr/>
        </p:nvSpPr>
        <p:spPr>
          <a:xfrm>
            <a:off x="4347359" y="4214515"/>
            <a:ext cx="3496877" cy="1416943"/>
          </a:xfrm>
          <a:prstGeom prst="roundRect">
            <a:avLst>
              <a:gd name="adj" fmla="val 5603"/>
            </a:avLst>
          </a:prstGeom>
          <a:solidFill>
            <a:srgbClr val="CCC4EC">
              <a:alpha val="50000"/>
            </a:srgbClr>
          </a:solidFill>
          <a:ln w="6350">
            <a:solidFill>
              <a:srgbClr val="B2AAD2"/>
            </a:solidFill>
            <a:prstDash val="solid"/>
          </a:ln>
          <a:effectLst>
            <a:outerShdw blurRad="127" dist="24130" dir="2700000" algn="bl" rotWithShape="0">
              <a:srgbClr val="B2AAD2">
                <a:alpha val="100000"/>
              </a:srgbClr>
            </a:outerShdw>
          </a:effectLst>
        </p:spPr>
        <p:txBody>
          <a:bodyPr/>
          <a:lstStyle/>
          <a:p>
            <a:endParaRPr lang="da-DK"/>
          </a:p>
        </p:txBody>
      </p:sp>
      <p:sp>
        <p:nvSpPr>
          <p:cNvPr id="10" name="Text 8"/>
          <p:cNvSpPr/>
          <p:nvPr/>
        </p:nvSpPr>
        <p:spPr>
          <a:xfrm>
            <a:off x="4542716" y="4409877"/>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000000"/>
                </a:solidFill>
                <a:latin typeface="Playfair Display SemiBold" pitchFamily="34" charset="0"/>
                <a:ea typeface="Playfair Display SemiBold" pitchFamily="34" charset="-122"/>
                <a:cs typeface="Playfair Display SemiBold" pitchFamily="34" charset="-120"/>
              </a:rPr>
              <a:t>Initialize</a:t>
            </a:r>
            <a:endParaRPr lang="en-US" sz="1850" dirty="0"/>
          </a:p>
        </p:txBody>
      </p:sp>
      <p:sp>
        <p:nvSpPr>
          <p:cNvPr id="11" name="Text 9"/>
          <p:cNvSpPr/>
          <p:nvPr/>
        </p:nvSpPr>
        <p:spPr>
          <a:xfrm>
            <a:off x="4542716" y="4818559"/>
            <a:ext cx="3106164" cy="61753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Public Sans" pitchFamily="34" charset="0"/>
                <a:ea typeface="Public Sans" pitchFamily="34" charset="-122"/>
                <a:cs typeface="Public Sans" pitchFamily="34" charset="-120"/>
              </a:rPr>
              <a:t>Create a new </a:t>
            </a:r>
            <a:r>
              <a:rPr lang="en-US" sz="1450" dirty="0">
                <a:solidFill>
                  <a:srgbClr val="000000"/>
                </a:solidFill>
                <a:highlight>
                  <a:srgbClr val="F2EDE9"/>
                </a:highlight>
                <a:latin typeface="Consolas" pitchFamily="34" charset="0"/>
                <a:ea typeface="Consolas" pitchFamily="34" charset="-122"/>
                <a:cs typeface="Consolas" pitchFamily="34" charset="-120"/>
              </a:rPr>
              <a:t>Database</a:t>
            </a:r>
            <a:r>
              <a:rPr lang="en-US" sz="1450" dirty="0">
                <a:solidFill>
                  <a:srgbClr val="000000"/>
                </a:solidFill>
                <a:latin typeface="Public Sans" pitchFamily="34" charset="0"/>
                <a:ea typeface="Public Sans" pitchFamily="34" charset="-122"/>
                <a:cs typeface="Public Sans" pitchFamily="34" charset="-120"/>
              </a:rPr>
              <a:t> instance pointing to </a:t>
            </a:r>
            <a:r>
              <a:rPr lang="en-US" sz="1450" dirty="0">
                <a:solidFill>
                  <a:srgbClr val="000000"/>
                </a:solidFill>
                <a:highlight>
                  <a:srgbClr val="F2EDE9"/>
                </a:highlight>
                <a:latin typeface="Consolas" pitchFamily="34" charset="0"/>
                <a:ea typeface="Consolas" pitchFamily="34" charset="-122"/>
                <a:cs typeface="Consolas" pitchFamily="34" charset="-120"/>
              </a:rPr>
              <a:t>studentsDB.db</a:t>
            </a:r>
            <a:endParaRPr lang="en-US" sz="1450" dirty="0"/>
          </a:p>
        </p:txBody>
      </p:sp>
      <p:sp>
        <p:nvSpPr>
          <p:cNvPr id="12" name="Shape 10"/>
          <p:cNvSpPr/>
          <p:nvPr/>
        </p:nvSpPr>
        <p:spPr>
          <a:xfrm>
            <a:off x="8033244" y="4214515"/>
            <a:ext cx="3496877" cy="1416943"/>
          </a:xfrm>
          <a:prstGeom prst="roundRect">
            <a:avLst>
              <a:gd name="adj" fmla="val 5603"/>
            </a:avLst>
          </a:prstGeom>
          <a:solidFill>
            <a:srgbClr val="B4DAE4">
              <a:alpha val="50000"/>
            </a:srgbClr>
          </a:solidFill>
          <a:ln w="6350">
            <a:solidFill>
              <a:srgbClr val="9AC0CA"/>
            </a:solidFill>
            <a:prstDash val="solid"/>
          </a:ln>
          <a:effectLst>
            <a:outerShdw blurRad="127" dist="24130" dir="2700000" algn="bl" rotWithShape="0">
              <a:srgbClr val="9AC0CA">
                <a:alpha val="100000"/>
              </a:srgbClr>
            </a:outerShdw>
          </a:effectLst>
        </p:spPr>
        <p:txBody>
          <a:bodyPr/>
          <a:lstStyle/>
          <a:p>
            <a:endParaRPr lang="da-DK"/>
          </a:p>
        </p:txBody>
      </p:sp>
      <p:sp>
        <p:nvSpPr>
          <p:cNvPr id="13" name="Text 11"/>
          <p:cNvSpPr/>
          <p:nvPr/>
        </p:nvSpPr>
        <p:spPr>
          <a:xfrm>
            <a:off x="8228600" y="4409877"/>
            <a:ext cx="3106164" cy="295275"/>
          </a:xfrm>
          <a:prstGeom prst="rect">
            <a:avLst/>
          </a:prstGeom>
          <a:noFill/>
          <a:ln/>
        </p:spPr>
        <p:txBody>
          <a:bodyPr wrap="none" lIns="0" tIns="0" rIns="0" bIns="0" rtlCol="0" anchor="t"/>
          <a:lstStyle/>
          <a:p>
            <a:pPr marL="0" indent="0" algn="l">
              <a:lnSpc>
                <a:spcPct val="104000"/>
              </a:lnSpc>
              <a:buNone/>
            </a:pPr>
            <a:r>
              <a:rPr lang="en-US" sz="1850" dirty="0">
                <a:solidFill>
                  <a:srgbClr val="000000"/>
                </a:solidFill>
                <a:latin typeface="Playfair Display SemiBold" pitchFamily="34" charset="0"/>
                <a:ea typeface="Playfair Display SemiBold" pitchFamily="34" charset="-122"/>
                <a:cs typeface="Playfair Display SemiBold" pitchFamily="34" charset="-120"/>
              </a:rPr>
              <a:t>Export</a:t>
            </a:r>
            <a:endParaRPr lang="en-US" sz="1850" dirty="0"/>
          </a:p>
        </p:txBody>
      </p:sp>
      <p:sp>
        <p:nvSpPr>
          <p:cNvPr id="14" name="Text 12"/>
          <p:cNvSpPr/>
          <p:nvPr/>
        </p:nvSpPr>
        <p:spPr>
          <a:xfrm>
            <a:off x="8228600" y="4818559"/>
            <a:ext cx="3106164" cy="61118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Public Sans" pitchFamily="34" charset="0"/>
                <a:ea typeface="Public Sans" pitchFamily="34" charset="-122"/>
                <a:cs typeface="Public Sans" pitchFamily="34" charset="-120"/>
              </a:rPr>
              <a:t>Export </a:t>
            </a:r>
            <a:r>
              <a:rPr lang="en-US" sz="1450" dirty="0">
                <a:solidFill>
                  <a:srgbClr val="000000"/>
                </a:solidFill>
                <a:highlight>
                  <a:srgbClr val="F2EDE9"/>
                </a:highlight>
                <a:latin typeface="Consolas" pitchFamily="34" charset="0"/>
                <a:ea typeface="Consolas" pitchFamily="34" charset="-122"/>
                <a:cs typeface="Consolas" pitchFamily="34" charset="-120"/>
              </a:rPr>
              <a:t>db</a:t>
            </a:r>
            <a:r>
              <a:rPr lang="en-US" sz="1450" dirty="0">
                <a:solidFill>
                  <a:srgbClr val="000000"/>
                </a:solidFill>
                <a:latin typeface="Public Sans" pitchFamily="34" charset="0"/>
                <a:ea typeface="Public Sans" pitchFamily="34" charset="-122"/>
                <a:cs typeface="Public Sans" pitchFamily="34" charset="-120"/>
              </a:rPr>
              <a:t> so every module in your app shares the same connection</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91939"/>
            <a:ext cx="10868745" cy="369193"/>
          </a:xfrm>
          <a:prstGeom prst="rect">
            <a:avLst/>
          </a:prstGeom>
          <a:noFill/>
          <a:ln/>
        </p:spPr>
        <p:txBody>
          <a:bodyPr wrap="none" lIns="0" tIns="0" rIns="0" bIns="0" rtlCol="0" anchor="t"/>
          <a:lstStyle/>
          <a:p>
            <a:pPr marL="0" indent="0" algn="l">
              <a:lnSpc>
                <a:spcPct val="104000"/>
              </a:lnSpc>
              <a:buNone/>
            </a:pPr>
            <a:r>
              <a:rPr lang="en-US" sz="2300" dirty="0">
                <a:solidFill>
                  <a:srgbClr val="4B6981"/>
                </a:solidFill>
                <a:latin typeface="Playfair Display SemiBold" pitchFamily="34" charset="0"/>
                <a:ea typeface="Playfair Display SemiBold" pitchFamily="34" charset="-122"/>
                <a:cs typeface="Playfair Display SemiBold" pitchFamily="34" charset="-120"/>
              </a:rPr>
              <a:t>Step 4: Create Database Schema</a:t>
            </a:r>
            <a:endParaRPr lang="en-US" sz="2300" dirty="0"/>
          </a:p>
        </p:txBody>
      </p:sp>
      <p:sp>
        <p:nvSpPr>
          <p:cNvPr id="3" name="Text 1"/>
          <p:cNvSpPr/>
          <p:nvPr/>
        </p:nvSpPr>
        <p:spPr>
          <a:xfrm>
            <a:off x="661475" y="1138238"/>
            <a:ext cx="5290311" cy="307181"/>
          </a:xfrm>
          <a:prstGeom prst="rect">
            <a:avLst/>
          </a:prstGeom>
          <a:noFill/>
          <a:ln/>
        </p:spPr>
        <p:txBody>
          <a:bodyPr wrap="square" lIns="0" tIns="0" rIns="0" bIns="0" rtlCol="0" anchor="t">
            <a:normAutofit/>
          </a:bodyPr>
          <a:lstStyle/>
          <a:p>
            <a:pPr marL="0" indent="0" algn="l">
              <a:lnSpc>
                <a:spcPct val="108000"/>
              </a:lnSpc>
              <a:buNone/>
            </a:pPr>
            <a:r>
              <a:rPr lang="en-US" sz="900" dirty="0">
                <a:solidFill>
                  <a:srgbClr val="6F655D"/>
                </a:solidFill>
                <a:latin typeface="Public Sans" pitchFamily="34" charset="0"/>
                <a:ea typeface="Public Sans" pitchFamily="34" charset="-122"/>
                <a:cs typeface="Public Sans" pitchFamily="34" charset="-120"/>
              </a:rPr>
              <a:t>In </a:t>
            </a:r>
            <a:r>
              <a:rPr lang="en-US" sz="900" dirty="0">
                <a:solidFill>
                  <a:srgbClr val="6F655D"/>
                </a:solidFill>
                <a:highlight>
                  <a:srgbClr val="F2EDE9"/>
                </a:highlight>
                <a:latin typeface="Consolas" pitchFamily="34" charset="0"/>
                <a:ea typeface="Consolas" pitchFamily="34" charset="-122"/>
                <a:cs typeface="Consolas" pitchFamily="34" charset="-120"/>
              </a:rPr>
              <a:t>app/tasks</a:t>
            </a:r>
            <a:r>
              <a:rPr lang="en-US" sz="900" dirty="0">
                <a:solidFill>
                  <a:srgbClr val="6F655D"/>
                </a:solidFill>
                <a:latin typeface="Public Sans" pitchFamily="34" charset="0"/>
                <a:ea typeface="Public Sans" pitchFamily="34" charset="-122"/>
                <a:cs typeface="Public Sans" pitchFamily="34" charset="-120"/>
              </a:rPr>
              <a:t>, create </a:t>
            </a:r>
            <a:r>
              <a:rPr lang="en-US" sz="900" b="1" dirty="0">
                <a:solidFill>
                  <a:srgbClr val="6F655D"/>
                </a:solidFill>
                <a:latin typeface="Public Sans Bold" pitchFamily="34" charset="0"/>
                <a:ea typeface="Public Sans Bold" pitchFamily="34" charset="-122"/>
                <a:cs typeface="Public Sans Bold" pitchFamily="34" charset="-120"/>
              </a:rPr>
              <a:t>db-create.js</a:t>
            </a:r>
            <a:r>
              <a:rPr lang="en-US" sz="900" dirty="0">
                <a:solidFill>
                  <a:srgbClr val="6F655D"/>
                </a:solidFill>
                <a:latin typeface="Public Sans" pitchFamily="34" charset="0"/>
                <a:ea typeface="Public Sans" pitchFamily="34" charset="-122"/>
                <a:cs typeface="Public Sans" pitchFamily="34" charset="-120"/>
              </a:rPr>
              <a:t>. This script drops any existing table, creates a fresh </a:t>
            </a:r>
            <a:r>
              <a:rPr lang="en-US" sz="900" dirty="0">
                <a:solidFill>
                  <a:srgbClr val="6F655D"/>
                </a:solidFill>
                <a:highlight>
                  <a:srgbClr val="F2EDE9"/>
                </a:highlight>
                <a:latin typeface="Consolas" pitchFamily="34" charset="0"/>
                <a:ea typeface="Consolas" pitchFamily="34" charset="-122"/>
                <a:cs typeface="Consolas" pitchFamily="34" charset="-120"/>
              </a:rPr>
              <a:t>students</a:t>
            </a:r>
            <a:r>
              <a:rPr lang="en-US" sz="900" dirty="0">
                <a:solidFill>
                  <a:srgbClr val="6F655D"/>
                </a:solidFill>
                <a:latin typeface="Public Sans" pitchFamily="34" charset="0"/>
                <a:ea typeface="Public Sans" pitchFamily="34" charset="-122"/>
                <a:cs typeface="Public Sans" pitchFamily="34" charset="-120"/>
              </a:rPr>
              <a:t> table, and inserts two sample records.</a:t>
            </a:r>
            <a:endParaRPr lang="en-US" sz="900" dirty="0"/>
          </a:p>
        </p:txBody>
      </p:sp>
      <p:sp>
        <p:nvSpPr>
          <p:cNvPr id="4" name="Shape 2"/>
          <p:cNvSpPr/>
          <p:nvPr/>
        </p:nvSpPr>
        <p:spPr>
          <a:xfrm>
            <a:off x="661475" y="1528465"/>
            <a:ext cx="927573" cy="179487"/>
          </a:xfrm>
          <a:prstGeom prst="roundRect">
            <a:avLst>
              <a:gd name="adj" fmla="val 22115"/>
            </a:avLst>
          </a:prstGeom>
          <a:noFill/>
          <a:ln w="6350">
            <a:solidFill>
              <a:srgbClr val="E1C2C2"/>
            </a:solidFill>
            <a:prstDash val="solid"/>
          </a:ln>
        </p:spPr>
        <p:txBody>
          <a:bodyPr/>
          <a:lstStyle/>
          <a:p>
            <a:endParaRPr lang="da-DK"/>
          </a:p>
        </p:txBody>
      </p:sp>
      <p:sp>
        <p:nvSpPr>
          <p:cNvPr id="5" name="Text 3"/>
          <p:cNvSpPr/>
          <p:nvPr/>
        </p:nvSpPr>
        <p:spPr>
          <a:xfrm>
            <a:off x="732315" y="1563886"/>
            <a:ext cx="1395477" cy="108645"/>
          </a:xfrm>
          <a:prstGeom prst="rect">
            <a:avLst/>
          </a:prstGeom>
          <a:noFill/>
          <a:ln/>
        </p:spPr>
        <p:txBody>
          <a:bodyPr wrap="none" lIns="0" tIns="0" rIns="0" bIns="0" rtlCol="0" anchor="t"/>
          <a:lstStyle/>
          <a:p>
            <a:pPr marL="0" indent="0" algn="l">
              <a:lnSpc>
                <a:spcPct val="96000"/>
              </a:lnSpc>
              <a:buNone/>
            </a:pPr>
            <a:r>
              <a:rPr lang="en-US" sz="700" dirty="0">
                <a:solidFill>
                  <a:srgbClr val="E1C2C2"/>
                </a:solidFill>
                <a:latin typeface="Public Sans" pitchFamily="34" charset="0"/>
                <a:ea typeface="Public Sans" pitchFamily="34" charset="-122"/>
                <a:cs typeface="Public Sans" pitchFamily="34" charset="-120"/>
              </a:rPr>
              <a:t>TABLE COLUMNS</a:t>
            </a:r>
            <a:endParaRPr lang="en-US" sz="700" dirty="0"/>
          </a:p>
        </p:txBody>
      </p:sp>
      <p:sp>
        <p:nvSpPr>
          <p:cNvPr id="6" name="Shape 4"/>
          <p:cNvSpPr/>
          <p:nvPr/>
        </p:nvSpPr>
        <p:spPr>
          <a:xfrm>
            <a:off x="6246259" y="1154906"/>
            <a:ext cx="5290311" cy="4016375"/>
          </a:xfrm>
          <a:prstGeom prst="roundRect">
            <a:avLst>
              <a:gd name="adj" fmla="val 1235"/>
            </a:avLst>
          </a:prstGeom>
          <a:solidFill>
            <a:srgbClr val="F2EDE9"/>
          </a:solidFill>
          <a:ln/>
        </p:spPr>
        <p:txBody>
          <a:bodyPr/>
          <a:lstStyle/>
          <a:p>
            <a:endParaRPr lang="da-DK"/>
          </a:p>
        </p:txBody>
      </p:sp>
      <p:sp>
        <p:nvSpPr>
          <p:cNvPr id="7" name="Text 5"/>
          <p:cNvSpPr/>
          <p:nvPr/>
        </p:nvSpPr>
        <p:spPr>
          <a:xfrm>
            <a:off x="6387940" y="1272977"/>
            <a:ext cx="5006949" cy="3780234"/>
          </a:xfrm>
          <a:prstGeom prst="rect">
            <a:avLst/>
          </a:prstGeom>
          <a:noFill/>
          <a:ln/>
        </p:spPr>
        <p:txBody>
          <a:bodyPr wrap="square" lIns="0" tIns="0" rIns="0" bIns="0" rtlCol="0" anchor="t">
            <a:normAutofit/>
          </a:bodyPr>
          <a:lstStyle/>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import { db } from "../db.js";</a:t>
            </a:r>
            <a:endParaRPr lang="en-US" sz="900" dirty="0"/>
          </a:p>
          <a:p>
            <a:pPr marL="0" indent="0" algn="l">
              <a:lnSpc>
                <a:spcPct val="133000"/>
              </a:lnSpc>
              <a:buNone/>
            </a:pP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db.exec(`</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DROP TABLE IF EXISTS students;</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CREATE TABLE students (</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id      INTEGER PRIMARY KEY AUTOINCREMENT,</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name    TEXT NOT NULL,</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phone   TEXT,</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email   TEXT,</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program TEXT,</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country TEXT</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INSERT INTO students (name, phone, email, program, country) VALUES</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('Sudarshan', '+1234567',</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'abc@example.com',</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'Computer Science', 'Nepal'),</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('Mahadi', '+1234567',</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'Mahadi@example.com',</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     'Computer Science', 'Bangladesh');</a:t>
            </a:r>
            <a:endParaRPr lang="en-US" sz="900" dirty="0"/>
          </a:p>
          <a:p>
            <a:pPr marL="0" indent="0" algn="l">
              <a:lnSpc>
                <a:spcPct val="133000"/>
              </a:lnSpc>
              <a:buNone/>
            </a:pPr>
            <a:r>
              <a:rPr lang="en-US" sz="900" dirty="0">
                <a:solidFill>
                  <a:srgbClr val="24292E"/>
                </a:solidFill>
                <a:latin typeface="Consolas" pitchFamily="34" charset="0"/>
                <a:ea typeface="Consolas" pitchFamily="34" charset="-122"/>
                <a:cs typeface="Consolas" pitchFamily="34" charset="-120"/>
              </a:rPr>
              <a:t>`);</a:t>
            </a:r>
            <a:endParaRPr lang="en-US" sz="900" dirty="0"/>
          </a:p>
        </p:txBody>
      </p:sp>
      <p:sp>
        <p:nvSpPr>
          <p:cNvPr id="8" name="Shape 6"/>
          <p:cNvSpPr/>
          <p:nvPr/>
        </p:nvSpPr>
        <p:spPr>
          <a:xfrm>
            <a:off x="661475" y="5337373"/>
            <a:ext cx="3573671" cy="354409"/>
          </a:xfrm>
          <a:prstGeom prst="roundRect">
            <a:avLst>
              <a:gd name="adj" fmla="val 49999"/>
            </a:avLst>
          </a:prstGeom>
          <a:solidFill>
            <a:srgbClr val="E1C2C2">
              <a:alpha val="50000"/>
            </a:srgbClr>
          </a:solidFill>
          <a:ln w="6350">
            <a:solidFill>
              <a:srgbClr val="C7A8A8"/>
            </a:solidFill>
            <a:prstDash val="solid"/>
          </a:ln>
          <a:effectLst>
            <a:outerShdw blurRad="127" dist="15240" dir="2700000" algn="bl" rotWithShape="0">
              <a:srgbClr val="C7A8A8">
                <a:alpha val="100000"/>
              </a:srgbClr>
            </a:outerShdw>
          </a:effectLst>
        </p:spPr>
        <p:txBody>
          <a:bodyPr/>
          <a:lstStyle/>
          <a:p>
            <a:endParaRPr lang="da-DK"/>
          </a:p>
        </p:txBody>
      </p:sp>
      <p:sp>
        <p:nvSpPr>
          <p:cNvPr id="9" name="Text 7"/>
          <p:cNvSpPr/>
          <p:nvPr/>
        </p:nvSpPr>
        <p:spPr>
          <a:xfrm>
            <a:off x="2359660" y="5403850"/>
            <a:ext cx="177200" cy="221456"/>
          </a:xfrm>
          <a:prstGeom prst="rect">
            <a:avLst/>
          </a:prstGeom>
          <a:noFill/>
          <a:ln/>
        </p:spPr>
        <p:txBody>
          <a:bodyPr wrap="none" lIns="0" tIns="0" rIns="0" bIns="0" rtlCol="0" anchor="ctr"/>
          <a:lstStyle/>
          <a:p>
            <a:pPr marL="0" indent="0" algn="ctr">
              <a:lnSpc>
                <a:spcPct val="100000"/>
              </a:lnSpc>
              <a:buNone/>
            </a:pPr>
            <a:r>
              <a:rPr lang="en-US" sz="1350" dirty="0">
                <a:solidFill>
                  <a:srgbClr val="000000"/>
                </a:solidFill>
                <a:latin typeface="Playfair Display SemiBold" pitchFamily="34" charset="0"/>
                <a:ea typeface="Playfair Display SemiBold" pitchFamily="34" charset="-122"/>
                <a:cs typeface="Playfair Display SemiBold" pitchFamily="34" charset="-120"/>
              </a:rPr>
              <a:t>1</a:t>
            </a:r>
            <a:endParaRPr lang="en-US" sz="1350" dirty="0"/>
          </a:p>
        </p:txBody>
      </p:sp>
      <p:sp>
        <p:nvSpPr>
          <p:cNvPr id="10" name="Text 8"/>
          <p:cNvSpPr/>
          <p:nvPr/>
        </p:nvSpPr>
        <p:spPr>
          <a:xfrm>
            <a:off x="779542" y="5765602"/>
            <a:ext cx="3337536" cy="184547"/>
          </a:xfrm>
          <a:prstGeom prst="rect">
            <a:avLst/>
          </a:prstGeom>
          <a:noFill/>
          <a:ln/>
        </p:spPr>
        <p:txBody>
          <a:bodyPr wrap="none" lIns="0" tIns="0" rIns="0" bIns="0" rtlCol="0" anchor="t"/>
          <a:lstStyle/>
          <a:p>
            <a:pPr marL="0" indent="0" algn="l">
              <a:lnSpc>
                <a:spcPct val="104000"/>
              </a:lnSpc>
              <a:buNone/>
            </a:pPr>
            <a:r>
              <a:rPr lang="en-US" sz="1150" dirty="0">
                <a:solidFill>
                  <a:srgbClr val="6F655D"/>
                </a:solidFill>
                <a:latin typeface="Playfair Display SemiBold" pitchFamily="34" charset="0"/>
                <a:ea typeface="Playfair Display SemiBold" pitchFamily="34" charset="-122"/>
                <a:cs typeface="Playfair Display SemiBold" pitchFamily="34" charset="-120"/>
              </a:rPr>
              <a:t>id</a:t>
            </a:r>
            <a:endParaRPr lang="en-US" sz="1150" dirty="0"/>
          </a:p>
        </p:txBody>
      </p:sp>
      <p:sp>
        <p:nvSpPr>
          <p:cNvPr id="11" name="Text 9"/>
          <p:cNvSpPr/>
          <p:nvPr/>
        </p:nvSpPr>
        <p:spPr>
          <a:xfrm>
            <a:off x="779542" y="5994400"/>
            <a:ext cx="3337536" cy="153591"/>
          </a:xfrm>
          <a:prstGeom prst="rect">
            <a:avLst/>
          </a:prstGeom>
          <a:noFill/>
          <a:ln/>
        </p:spPr>
        <p:txBody>
          <a:bodyPr wrap="none" lIns="0" tIns="0" rIns="0" bIns="0" rtlCol="0" anchor="t"/>
          <a:lstStyle/>
          <a:p>
            <a:pPr marL="0" indent="0" algn="l">
              <a:lnSpc>
                <a:spcPct val="108000"/>
              </a:lnSpc>
              <a:buNone/>
            </a:pPr>
            <a:r>
              <a:rPr lang="en-US" sz="900" dirty="0">
                <a:solidFill>
                  <a:srgbClr val="6F655D"/>
                </a:solidFill>
                <a:latin typeface="Public Sans" pitchFamily="34" charset="0"/>
                <a:ea typeface="Public Sans" pitchFamily="34" charset="-122"/>
                <a:cs typeface="Public Sans" pitchFamily="34" charset="-120"/>
              </a:rPr>
              <a:t>INTEGER PRIMARY KEY AUTOINCREMENT</a:t>
            </a:r>
            <a:endParaRPr lang="en-US" sz="900" dirty="0"/>
          </a:p>
        </p:txBody>
      </p:sp>
      <p:sp>
        <p:nvSpPr>
          <p:cNvPr id="12" name="Shape 10"/>
          <p:cNvSpPr/>
          <p:nvPr/>
        </p:nvSpPr>
        <p:spPr>
          <a:xfrm>
            <a:off x="4308963" y="5337373"/>
            <a:ext cx="3573671" cy="354409"/>
          </a:xfrm>
          <a:prstGeom prst="roundRect">
            <a:avLst>
              <a:gd name="adj" fmla="val 49999"/>
            </a:avLst>
          </a:prstGeom>
          <a:solidFill>
            <a:srgbClr val="CCC4EC">
              <a:alpha val="50000"/>
            </a:srgbClr>
          </a:solidFill>
          <a:ln w="6350">
            <a:solidFill>
              <a:srgbClr val="B2AAD2"/>
            </a:solidFill>
            <a:prstDash val="solid"/>
          </a:ln>
          <a:effectLst>
            <a:outerShdw blurRad="127" dist="15240" dir="2700000" algn="bl" rotWithShape="0">
              <a:srgbClr val="B2AAD2">
                <a:alpha val="100000"/>
              </a:srgbClr>
            </a:outerShdw>
          </a:effectLst>
        </p:spPr>
        <p:txBody>
          <a:bodyPr/>
          <a:lstStyle/>
          <a:p>
            <a:endParaRPr lang="da-DK"/>
          </a:p>
        </p:txBody>
      </p:sp>
      <p:sp>
        <p:nvSpPr>
          <p:cNvPr id="13" name="Text 11"/>
          <p:cNvSpPr/>
          <p:nvPr/>
        </p:nvSpPr>
        <p:spPr>
          <a:xfrm>
            <a:off x="6007148" y="5403850"/>
            <a:ext cx="177200" cy="221456"/>
          </a:xfrm>
          <a:prstGeom prst="rect">
            <a:avLst/>
          </a:prstGeom>
          <a:noFill/>
          <a:ln/>
        </p:spPr>
        <p:txBody>
          <a:bodyPr wrap="none" lIns="0" tIns="0" rIns="0" bIns="0" rtlCol="0" anchor="ctr"/>
          <a:lstStyle/>
          <a:p>
            <a:pPr marL="0" indent="0" algn="ctr">
              <a:lnSpc>
                <a:spcPct val="100000"/>
              </a:lnSpc>
              <a:buNone/>
            </a:pPr>
            <a:r>
              <a:rPr lang="en-US" sz="1350" dirty="0">
                <a:solidFill>
                  <a:srgbClr val="000000"/>
                </a:solidFill>
                <a:latin typeface="Playfair Display SemiBold" pitchFamily="34" charset="0"/>
                <a:ea typeface="Playfair Display SemiBold" pitchFamily="34" charset="-122"/>
                <a:cs typeface="Playfair Display SemiBold" pitchFamily="34" charset="-120"/>
              </a:rPr>
              <a:t>2</a:t>
            </a:r>
            <a:endParaRPr lang="en-US" sz="1350" dirty="0"/>
          </a:p>
        </p:txBody>
      </p:sp>
      <p:sp>
        <p:nvSpPr>
          <p:cNvPr id="14" name="Text 12"/>
          <p:cNvSpPr/>
          <p:nvPr/>
        </p:nvSpPr>
        <p:spPr>
          <a:xfrm>
            <a:off x="4427030" y="5765602"/>
            <a:ext cx="3337536" cy="184547"/>
          </a:xfrm>
          <a:prstGeom prst="rect">
            <a:avLst/>
          </a:prstGeom>
          <a:noFill/>
          <a:ln/>
        </p:spPr>
        <p:txBody>
          <a:bodyPr wrap="none" lIns="0" tIns="0" rIns="0" bIns="0" rtlCol="0" anchor="t"/>
          <a:lstStyle/>
          <a:p>
            <a:pPr marL="0" indent="0" algn="l">
              <a:lnSpc>
                <a:spcPct val="104000"/>
              </a:lnSpc>
              <a:buNone/>
            </a:pPr>
            <a:r>
              <a:rPr lang="en-US" sz="1150" dirty="0">
                <a:solidFill>
                  <a:srgbClr val="6F655D"/>
                </a:solidFill>
                <a:latin typeface="Playfair Display SemiBold" pitchFamily="34" charset="0"/>
                <a:ea typeface="Playfair Display SemiBold" pitchFamily="34" charset="-122"/>
                <a:cs typeface="Playfair Display SemiBold" pitchFamily="34" charset="-120"/>
              </a:rPr>
              <a:t>name, phone, email</a:t>
            </a:r>
            <a:endParaRPr lang="en-US" sz="1150" dirty="0"/>
          </a:p>
        </p:txBody>
      </p:sp>
      <p:sp>
        <p:nvSpPr>
          <p:cNvPr id="15" name="Text 13"/>
          <p:cNvSpPr/>
          <p:nvPr/>
        </p:nvSpPr>
        <p:spPr>
          <a:xfrm>
            <a:off x="4427030" y="5994400"/>
            <a:ext cx="3337536" cy="153591"/>
          </a:xfrm>
          <a:prstGeom prst="rect">
            <a:avLst/>
          </a:prstGeom>
          <a:noFill/>
          <a:ln/>
        </p:spPr>
        <p:txBody>
          <a:bodyPr wrap="none" lIns="0" tIns="0" rIns="0" bIns="0" rtlCol="0" anchor="t"/>
          <a:lstStyle/>
          <a:p>
            <a:pPr marL="0" indent="0" algn="l">
              <a:lnSpc>
                <a:spcPct val="108000"/>
              </a:lnSpc>
              <a:buNone/>
            </a:pPr>
            <a:r>
              <a:rPr lang="en-US" sz="900" dirty="0">
                <a:solidFill>
                  <a:srgbClr val="6F655D"/>
                </a:solidFill>
                <a:latin typeface="Public Sans" pitchFamily="34" charset="0"/>
                <a:ea typeface="Public Sans" pitchFamily="34" charset="-122"/>
                <a:cs typeface="Public Sans" pitchFamily="34" charset="-120"/>
              </a:rPr>
              <a:t>TEXT fields for contact info</a:t>
            </a:r>
            <a:endParaRPr lang="en-US" sz="900" dirty="0"/>
          </a:p>
        </p:txBody>
      </p:sp>
      <p:sp>
        <p:nvSpPr>
          <p:cNvPr id="16" name="Shape 14"/>
          <p:cNvSpPr/>
          <p:nvPr/>
        </p:nvSpPr>
        <p:spPr>
          <a:xfrm>
            <a:off x="7956450" y="5337373"/>
            <a:ext cx="3573671" cy="354409"/>
          </a:xfrm>
          <a:prstGeom prst="roundRect">
            <a:avLst>
              <a:gd name="adj" fmla="val 49999"/>
            </a:avLst>
          </a:prstGeom>
          <a:solidFill>
            <a:srgbClr val="B4DAE4">
              <a:alpha val="50000"/>
            </a:srgbClr>
          </a:solidFill>
          <a:ln w="6350">
            <a:solidFill>
              <a:srgbClr val="9AC0CA"/>
            </a:solidFill>
            <a:prstDash val="solid"/>
          </a:ln>
          <a:effectLst>
            <a:outerShdw blurRad="127" dist="15240" dir="2700000" algn="bl" rotWithShape="0">
              <a:srgbClr val="9AC0CA">
                <a:alpha val="100000"/>
              </a:srgbClr>
            </a:outerShdw>
          </a:effectLst>
        </p:spPr>
        <p:txBody>
          <a:bodyPr/>
          <a:lstStyle/>
          <a:p>
            <a:endParaRPr lang="da-DK"/>
          </a:p>
        </p:txBody>
      </p:sp>
      <p:sp>
        <p:nvSpPr>
          <p:cNvPr id="17" name="Text 15"/>
          <p:cNvSpPr/>
          <p:nvPr/>
        </p:nvSpPr>
        <p:spPr>
          <a:xfrm>
            <a:off x="9654636" y="5403850"/>
            <a:ext cx="177200" cy="221456"/>
          </a:xfrm>
          <a:prstGeom prst="rect">
            <a:avLst/>
          </a:prstGeom>
          <a:noFill/>
          <a:ln/>
        </p:spPr>
        <p:txBody>
          <a:bodyPr wrap="none" lIns="0" tIns="0" rIns="0" bIns="0" rtlCol="0" anchor="ctr"/>
          <a:lstStyle/>
          <a:p>
            <a:pPr marL="0" indent="0" algn="ctr">
              <a:lnSpc>
                <a:spcPct val="100000"/>
              </a:lnSpc>
              <a:buNone/>
            </a:pPr>
            <a:r>
              <a:rPr lang="en-US" sz="1350" dirty="0">
                <a:solidFill>
                  <a:srgbClr val="000000"/>
                </a:solidFill>
                <a:latin typeface="Playfair Display SemiBold" pitchFamily="34" charset="0"/>
                <a:ea typeface="Playfair Display SemiBold" pitchFamily="34" charset="-122"/>
                <a:cs typeface="Playfair Display SemiBold" pitchFamily="34" charset="-120"/>
              </a:rPr>
              <a:t>3</a:t>
            </a:r>
            <a:endParaRPr lang="en-US" sz="1350" dirty="0"/>
          </a:p>
        </p:txBody>
      </p:sp>
      <p:sp>
        <p:nvSpPr>
          <p:cNvPr id="18" name="Text 16"/>
          <p:cNvSpPr/>
          <p:nvPr/>
        </p:nvSpPr>
        <p:spPr>
          <a:xfrm>
            <a:off x="8074518" y="5765602"/>
            <a:ext cx="3337536" cy="184547"/>
          </a:xfrm>
          <a:prstGeom prst="rect">
            <a:avLst/>
          </a:prstGeom>
          <a:noFill/>
          <a:ln/>
        </p:spPr>
        <p:txBody>
          <a:bodyPr wrap="none" lIns="0" tIns="0" rIns="0" bIns="0" rtlCol="0" anchor="t"/>
          <a:lstStyle/>
          <a:p>
            <a:pPr marL="0" indent="0" algn="l">
              <a:lnSpc>
                <a:spcPct val="104000"/>
              </a:lnSpc>
              <a:buNone/>
            </a:pPr>
            <a:r>
              <a:rPr lang="en-US" sz="1150" dirty="0">
                <a:solidFill>
                  <a:srgbClr val="6F655D"/>
                </a:solidFill>
                <a:latin typeface="Playfair Display SemiBold" pitchFamily="34" charset="0"/>
                <a:ea typeface="Playfair Display SemiBold" pitchFamily="34" charset="-122"/>
                <a:cs typeface="Playfair Display SemiBold" pitchFamily="34" charset="-120"/>
              </a:rPr>
              <a:t>program, country</a:t>
            </a:r>
            <a:endParaRPr lang="en-US" sz="1150" dirty="0"/>
          </a:p>
        </p:txBody>
      </p:sp>
      <p:sp>
        <p:nvSpPr>
          <p:cNvPr id="19" name="Text 17"/>
          <p:cNvSpPr/>
          <p:nvPr/>
        </p:nvSpPr>
        <p:spPr>
          <a:xfrm>
            <a:off x="8074518" y="5994400"/>
            <a:ext cx="3337536" cy="153591"/>
          </a:xfrm>
          <a:prstGeom prst="rect">
            <a:avLst/>
          </a:prstGeom>
          <a:noFill/>
          <a:ln/>
        </p:spPr>
        <p:txBody>
          <a:bodyPr wrap="none" lIns="0" tIns="0" rIns="0" bIns="0" rtlCol="0" anchor="t"/>
          <a:lstStyle/>
          <a:p>
            <a:pPr marL="0" indent="0" algn="l">
              <a:lnSpc>
                <a:spcPct val="108000"/>
              </a:lnSpc>
              <a:buNone/>
            </a:pPr>
            <a:r>
              <a:rPr lang="en-US" sz="900" dirty="0">
                <a:solidFill>
                  <a:srgbClr val="6F655D"/>
                </a:solidFill>
                <a:latin typeface="Public Sans" pitchFamily="34" charset="0"/>
                <a:ea typeface="Public Sans" pitchFamily="34" charset="-122"/>
                <a:cs typeface="Public Sans" pitchFamily="34" charset="-120"/>
              </a:rPr>
              <a:t>TEXT fields for academic info</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162621" y="0"/>
            <a:ext cx="5029074" cy="6858000"/>
          </a:xfrm>
          <a:prstGeom prst="rect">
            <a:avLst/>
          </a:prstGeom>
          <a:solidFill>
            <a:srgbClr val="F0DEDC"/>
          </a:solidFill>
          <a:ln/>
        </p:spPr>
        <p:txBody>
          <a:bodyPr/>
          <a:lstStyle/>
          <a:p>
            <a:endParaRPr lang="da-DK"/>
          </a:p>
        </p:txBody>
      </p:sp>
      <p:pic>
        <p:nvPicPr>
          <p:cNvPr id="3" name="Image 0" descr="preencoded.png"/>
          <p:cNvPicPr>
            <a:picLocks noChangeAspect="1"/>
          </p:cNvPicPr>
          <p:nvPr/>
        </p:nvPicPr>
        <p:blipFill>
          <a:blip r:embed="rId3"/>
          <a:stretch>
            <a:fillRect/>
          </a:stretch>
        </p:blipFill>
        <p:spPr>
          <a:xfrm>
            <a:off x="8144267" y="786805"/>
            <a:ext cx="3963194" cy="5284391"/>
          </a:xfrm>
          <a:prstGeom prst="rect">
            <a:avLst/>
          </a:prstGeom>
        </p:spPr>
      </p:pic>
      <p:sp>
        <p:nvSpPr>
          <p:cNvPr id="4" name="Text 1"/>
          <p:cNvSpPr/>
          <p:nvPr/>
        </p:nvSpPr>
        <p:spPr>
          <a:xfrm>
            <a:off x="661475" y="559197"/>
            <a:ext cx="6296860" cy="526058"/>
          </a:xfrm>
          <a:prstGeom prst="rect">
            <a:avLst/>
          </a:prstGeom>
          <a:noFill/>
          <a:ln/>
        </p:spPr>
        <p:txBody>
          <a:bodyPr wrap="none" lIns="0" tIns="0" rIns="0" bIns="0" rtlCol="0" anchor="t"/>
          <a:lstStyle/>
          <a:p>
            <a:pPr marL="0" indent="0" algn="l">
              <a:lnSpc>
                <a:spcPct val="104000"/>
              </a:lnSpc>
              <a:buNone/>
            </a:pPr>
            <a:r>
              <a:rPr lang="en-US" sz="3300" dirty="0">
                <a:solidFill>
                  <a:srgbClr val="4B6981"/>
                </a:solidFill>
                <a:latin typeface="Playfair Display SemiBold" pitchFamily="34" charset="0"/>
                <a:ea typeface="Playfair Display SemiBold" pitchFamily="34" charset="-122"/>
                <a:cs typeface="Playfair Display SemiBold" pitchFamily="34" charset="-120"/>
              </a:rPr>
              <a:t>Step 5: Add Tasks to deno.json</a:t>
            </a:r>
            <a:endParaRPr lang="en-US" sz="3300" dirty="0"/>
          </a:p>
        </p:txBody>
      </p:sp>
      <p:sp>
        <p:nvSpPr>
          <p:cNvPr id="5" name="Text 2"/>
          <p:cNvSpPr/>
          <p:nvPr/>
        </p:nvSpPr>
        <p:spPr>
          <a:xfrm>
            <a:off x="661475" y="1310084"/>
            <a:ext cx="6296860" cy="515541"/>
          </a:xfrm>
          <a:prstGeom prst="rect">
            <a:avLst/>
          </a:prstGeom>
          <a:noFill/>
          <a:ln/>
        </p:spPr>
        <p:txBody>
          <a:bodyPr wrap="square" lIns="0" tIns="0" rIns="0" bIns="0" rtlCol="0" anchor="t">
            <a:normAutofit/>
          </a:bodyPr>
          <a:lstStyle/>
          <a:p>
            <a:pPr marL="0" indent="0" algn="l">
              <a:lnSpc>
                <a:spcPct val="126000"/>
              </a:lnSpc>
              <a:buNone/>
            </a:pPr>
            <a:r>
              <a:rPr lang="en-US" sz="1300" dirty="0">
                <a:solidFill>
                  <a:srgbClr val="6F655D"/>
                </a:solidFill>
                <a:latin typeface="Public Sans" pitchFamily="34" charset="0"/>
                <a:ea typeface="Public Sans" pitchFamily="34" charset="-122"/>
                <a:cs typeface="Public Sans" pitchFamily="34" charset="-120"/>
              </a:rPr>
              <a:t>Register two tasks in your </a:t>
            </a:r>
            <a:r>
              <a:rPr lang="en-US" sz="1300" dirty="0">
                <a:solidFill>
                  <a:srgbClr val="6F655D"/>
                </a:solidFill>
                <a:highlight>
                  <a:srgbClr val="F2EDE9"/>
                </a:highlight>
                <a:latin typeface="Consolas" pitchFamily="34" charset="0"/>
                <a:ea typeface="Consolas" pitchFamily="34" charset="-122"/>
                <a:cs typeface="Consolas" pitchFamily="34" charset="-120"/>
              </a:rPr>
              <a:t>deno.json</a:t>
            </a:r>
            <a:r>
              <a:rPr lang="en-US" sz="1300" dirty="0">
                <a:solidFill>
                  <a:srgbClr val="6F655D"/>
                </a:solidFill>
                <a:latin typeface="Public Sans" pitchFamily="34" charset="0"/>
                <a:ea typeface="Public Sans" pitchFamily="34" charset="-122"/>
                <a:cs typeface="Public Sans" pitchFamily="34" charset="-120"/>
              </a:rPr>
              <a:t> file so you can run your app and initialize your database with simple commands:</a:t>
            </a:r>
            <a:endParaRPr lang="en-US" sz="1300" dirty="0"/>
          </a:p>
        </p:txBody>
      </p:sp>
      <p:sp>
        <p:nvSpPr>
          <p:cNvPr id="6" name="Shape 3"/>
          <p:cNvSpPr/>
          <p:nvPr/>
        </p:nvSpPr>
        <p:spPr>
          <a:xfrm>
            <a:off x="661475" y="1994297"/>
            <a:ext cx="6296860" cy="2222202"/>
          </a:xfrm>
          <a:prstGeom prst="roundRect">
            <a:avLst>
              <a:gd name="adj" fmla="val 3182"/>
            </a:avLst>
          </a:prstGeom>
          <a:solidFill>
            <a:srgbClr val="F2EDE9"/>
          </a:solidFill>
          <a:ln/>
        </p:spPr>
        <p:txBody>
          <a:bodyPr/>
          <a:lstStyle/>
          <a:p>
            <a:endParaRPr lang="da-DK"/>
          </a:p>
        </p:txBody>
      </p:sp>
      <p:sp>
        <p:nvSpPr>
          <p:cNvPr id="7" name="Text 4"/>
          <p:cNvSpPr/>
          <p:nvPr/>
        </p:nvSpPr>
        <p:spPr>
          <a:xfrm>
            <a:off x="829745" y="2009822"/>
            <a:ext cx="6200975" cy="2549973"/>
          </a:xfrm>
          <a:prstGeom prst="rect">
            <a:avLst/>
          </a:prstGeom>
          <a:noFill/>
          <a:ln/>
        </p:spPr>
        <p:txBody>
          <a:bodyPr wrap="square" lIns="0" tIns="0" rIns="0" bIns="0" rtlCol="0" anchor="t">
            <a:noAutofit/>
          </a:bodyPr>
          <a:lstStyle/>
          <a:p>
            <a:pPr>
              <a:lnSpc>
                <a:spcPts val="1800"/>
              </a:lnSpc>
              <a:buNone/>
            </a:pPr>
            <a:r>
              <a:rPr lang="da-DK" sz="800" b="0" dirty="0">
                <a:solidFill>
                  <a:srgbClr val="000000"/>
                </a:solidFill>
                <a:effectLst/>
                <a:latin typeface="Consolas" panose="020B0609020204030204" pitchFamily="49" charset="0"/>
              </a:rPr>
              <a:t>{ </a:t>
            </a:r>
            <a:r>
              <a:rPr lang="da-DK" sz="800" b="0" dirty="0">
                <a:solidFill>
                  <a:srgbClr val="0451A5"/>
                </a:solidFill>
                <a:effectLst/>
                <a:latin typeface="Consolas" panose="020B0609020204030204" pitchFamily="49" charset="0"/>
              </a:rPr>
              <a:t>"tasks"</a:t>
            </a:r>
            <a:r>
              <a:rPr lang="da-DK" sz="800" b="0" dirty="0">
                <a:solidFill>
                  <a:srgbClr val="000000"/>
                </a:solidFill>
                <a:effectLst/>
                <a:latin typeface="Consolas" panose="020B0609020204030204" pitchFamily="49" charset="0"/>
              </a:rPr>
              <a:t>: {</a:t>
            </a:r>
          </a:p>
          <a:p>
            <a:pPr>
              <a:lnSpc>
                <a:spcPts val="1800"/>
              </a:lnSpc>
              <a:buNone/>
            </a:pPr>
            <a:r>
              <a:rPr lang="da-DK" sz="800" b="0" dirty="0">
                <a:solidFill>
                  <a:srgbClr val="0451A5"/>
                </a:solidFill>
                <a:effectLst/>
                <a:latin typeface="Consolas" panose="020B0609020204030204" pitchFamily="49" charset="0"/>
              </a:rPr>
              <a:t>"serve"</a:t>
            </a:r>
            <a:r>
              <a:rPr lang="da-DK" sz="800" b="0" dirty="0">
                <a:solidFill>
                  <a:srgbClr val="000000"/>
                </a:solidFill>
                <a:effectLst/>
                <a:latin typeface="Consolas" panose="020B0609020204030204" pitchFamily="49" charset="0"/>
              </a:rPr>
              <a:t>: </a:t>
            </a:r>
            <a:r>
              <a:rPr lang="da-DK" sz="800" b="0" dirty="0">
                <a:solidFill>
                  <a:srgbClr val="A31515"/>
                </a:solidFill>
                <a:effectLst/>
                <a:latin typeface="Consolas" panose="020B0609020204030204" pitchFamily="49" charset="0"/>
              </a:rPr>
              <a:t>"deno --watch --allow-env --allow-net=0.0.0.0:8000 --allow-ffi --allow-read --allow-write main.js"</a:t>
            </a:r>
            <a:r>
              <a:rPr lang="da-DK" sz="800" b="0" dirty="0">
                <a:solidFill>
                  <a:srgbClr val="000000"/>
                </a:solidFill>
                <a:effectLst/>
                <a:latin typeface="Consolas" panose="020B0609020204030204" pitchFamily="49" charset="0"/>
              </a:rPr>
              <a:t>,</a:t>
            </a:r>
          </a:p>
          <a:p>
            <a:pPr>
              <a:lnSpc>
                <a:spcPts val="1800"/>
              </a:lnSpc>
              <a:buNone/>
            </a:pPr>
            <a:r>
              <a:rPr lang="da-DK" sz="800" b="0" dirty="0">
                <a:solidFill>
                  <a:srgbClr val="0451A5"/>
                </a:solidFill>
                <a:effectLst/>
                <a:latin typeface="Consolas" panose="020B0609020204030204" pitchFamily="49" charset="0"/>
              </a:rPr>
              <a:t>"db:create"</a:t>
            </a:r>
            <a:r>
              <a:rPr lang="da-DK" sz="800" b="0" dirty="0">
                <a:solidFill>
                  <a:srgbClr val="000000"/>
                </a:solidFill>
                <a:effectLst/>
                <a:latin typeface="Consolas" panose="020B0609020204030204" pitchFamily="49" charset="0"/>
              </a:rPr>
              <a:t>: </a:t>
            </a:r>
            <a:r>
              <a:rPr lang="da-DK" sz="800" b="0" dirty="0">
                <a:solidFill>
                  <a:srgbClr val="A31515"/>
                </a:solidFill>
                <a:effectLst/>
                <a:latin typeface="Consolas" panose="020B0609020204030204" pitchFamily="49" charset="0"/>
              </a:rPr>
              <a:t>"deno --watch --allow-env --allow-net=0.0.0.0:8000 --allow-ffi --allow-read --allow-write ./app/tasks/db-create.js"</a:t>
            </a:r>
            <a:endParaRPr lang="da-DK" sz="800" b="0" dirty="0">
              <a:solidFill>
                <a:srgbClr val="000000"/>
              </a:solidFill>
              <a:effectLst/>
              <a:latin typeface="Consolas" panose="020B0609020204030204" pitchFamily="49" charset="0"/>
            </a:endParaRPr>
          </a:p>
          <a:p>
            <a:pPr>
              <a:lnSpc>
                <a:spcPts val="1800"/>
              </a:lnSpc>
              <a:buNone/>
            </a:pPr>
            <a:r>
              <a:rPr lang="da-DK" sz="800" b="0" dirty="0">
                <a:solidFill>
                  <a:srgbClr val="000000"/>
                </a:solidFill>
                <a:effectLst/>
                <a:latin typeface="Consolas" panose="020B0609020204030204" pitchFamily="49" charset="0"/>
              </a:rPr>
              <a:t>},</a:t>
            </a:r>
          </a:p>
          <a:p>
            <a:pPr>
              <a:lnSpc>
                <a:spcPts val="1800"/>
              </a:lnSpc>
              <a:buNone/>
            </a:pPr>
            <a:r>
              <a:rPr lang="da-DK" sz="800" b="0" dirty="0">
                <a:solidFill>
                  <a:srgbClr val="0451A5"/>
                </a:solidFill>
                <a:effectLst/>
                <a:latin typeface="Consolas" panose="020B0609020204030204" pitchFamily="49" charset="0"/>
              </a:rPr>
              <a:t>"imports"</a:t>
            </a:r>
            <a:r>
              <a:rPr lang="da-DK" sz="800" b="0" dirty="0">
                <a:solidFill>
                  <a:srgbClr val="000000"/>
                </a:solidFill>
                <a:effectLst/>
                <a:latin typeface="Consolas" panose="020B0609020204030204" pitchFamily="49" charset="0"/>
              </a:rPr>
              <a:t>: {</a:t>
            </a:r>
          </a:p>
          <a:p>
            <a:pPr>
              <a:lnSpc>
                <a:spcPts val="1800"/>
              </a:lnSpc>
              <a:buNone/>
            </a:pPr>
            <a:r>
              <a:rPr lang="da-DK" sz="800" b="0" dirty="0">
                <a:solidFill>
                  <a:srgbClr val="0451A5"/>
                </a:solidFill>
                <a:effectLst/>
                <a:latin typeface="Consolas" panose="020B0609020204030204" pitchFamily="49" charset="0"/>
              </a:rPr>
              <a:t>"@db/sqlite"</a:t>
            </a:r>
            <a:r>
              <a:rPr lang="da-DK" sz="800" b="0" dirty="0">
                <a:solidFill>
                  <a:srgbClr val="000000"/>
                </a:solidFill>
                <a:effectLst/>
                <a:latin typeface="Consolas" panose="020B0609020204030204" pitchFamily="49" charset="0"/>
              </a:rPr>
              <a:t>: </a:t>
            </a:r>
            <a:r>
              <a:rPr lang="da-DK" sz="800" b="0" dirty="0">
                <a:solidFill>
                  <a:srgbClr val="A31515"/>
                </a:solidFill>
                <a:effectLst/>
                <a:latin typeface="Consolas" panose="020B0609020204030204" pitchFamily="49" charset="0"/>
              </a:rPr>
              <a:t>"jsr:@db/sqlite@^0.13.0"</a:t>
            </a:r>
            <a:r>
              <a:rPr lang="da-DK" sz="800" b="0" dirty="0">
                <a:solidFill>
                  <a:srgbClr val="000000"/>
                </a:solidFill>
                <a:effectLst/>
                <a:latin typeface="Consolas" panose="020B0609020204030204" pitchFamily="49" charset="0"/>
              </a:rPr>
              <a:t>,</a:t>
            </a:r>
          </a:p>
          <a:p>
            <a:pPr>
              <a:lnSpc>
                <a:spcPts val="1800"/>
              </a:lnSpc>
              <a:buNone/>
            </a:pPr>
            <a:r>
              <a:rPr lang="da-DK" sz="800" b="0" dirty="0">
                <a:solidFill>
                  <a:srgbClr val="0451A5"/>
                </a:solidFill>
                <a:effectLst/>
                <a:latin typeface="Consolas" panose="020B0609020204030204" pitchFamily="49" charset="0"/>
              </a:rPr>
              <a:t>"@std/http"</a:t>
            </a:r>
            <a:r>
              <a:rPr lang="da-DK" sz="800" b="0" dirty="0">
                <a:solidFill>
                  <a:srgbClr val="000000"/>
                </a:solidFill>
                <a:effectLst/>
                <a:latin typeface="Consolas" panose="020B0609020204030204" pitchFamily="49" charset="0"/>
              </a:rPr>
              <a:t>: </a:t>
            </a:r>
            <a:r>
              <a:rPr lang="da-DK" sz="800" b="0" dirty="0">
                <a:solidFill>
                  <a:srgbClr val="A31515"/>
                </a:solidFill>
                <a:effectLst/>
                <a:latin typeface="Consolas" panose="020B0609020204030204" pitchFamily="49" charset="0"/>
              </a:rPr>
              <a:t>"jsr:@std/http@^1.1.3"</a:t>
            </a:r>
            <a:endParaRPr lang="da-DK" sz="800" b="0" dirty="0">
              <a:solidFill>
                <a:srgbClr val="000000"/>
              </a:solidFill>
              <a:effectLst/>
              <a:latin typeface="Consolas" panose="020B0609020204030204" pitchFamily="49" charset="0"/>
            </a:endParaRPr>
          </a:p>
          <a:p>
            <a:pPr>
              <a:lnSpc>
                <a:spcPts val="1800"/>
              </a:lnSpc>
              <a:buNone/>
            </a:pPr>
            <a:r>
              <a:rPr lang="da-DK" sz="800" b="0" dirty="0">
                <a:solidFill>
                  <a:srgbClr val="000000"/>
                </a:solidFill>
                <a:effectLst/>
                <a:latin typeface="Consolas" panose="020B0609020204030204" pitchFamily="49" charset="0"/>
              </a:rPr>
              <a:t>}</a:t>
            </a:r>
          </a:p>
          <a:p>
            <a:pPr>
              <a:lnSpc>
                <a:spcPts val="1800"/>
              </a:lnSpc>
              <a:buNone/>
            </a:pPr>
            <a:r>
              <a:rPr lang="da-DK" sz="800" b="0" dirty="0">
                <a:solidFill>
                  <a:srgbClr val="000000"/>
                </a:solidFill>
                <a:effectLst/>
                <a:latin typeface="Consolas" panose="020B0609020204030204" pitchFamily="49" charset="0"/>
              </a:rPr>
              <a:t>}</a:t>
            </a:r>
          </a:p>
        </p:txBody>
      </p:sp>
      <p:sp>
        <p:nvSpPr>
          <p:cNvPr id="8" name="Shape 5"/>
          <p:cNvSpPr/>
          <p:nvPr/>
        </p:nvSpPr>
        <p:spPr>
          <a:xfrm>
            <a:off x="661475" y="4385171"/>
            <a:ext cx="6296860" cy="1913533"/>
          </a:xfrm>
          <a:prstGeom prst="roundRect">
            <a:avLst>
              <a:gd name="adj" fmla="val 3695"/>
            </a:avLst>
          </a:prstGeom>
          <a:solidFill>
            <a:srgbClr val="F0DEDC"/>
          </a:solidFill>
          <a:ln w="6350">
            <a:solidFill>
              <a:srgbClr val="C7A8A8"/>
            </a:solidFill>
            <a:prstDash val="solid"/>
          </a:ln>
          <a:effectLst>
            <a:outerShdw blurRad="127" dist="21590" dir="2700000" algn="bl" rotWithShape="0">
              <a:srgbClr val="C7A8A8">
                <a:alpha val="100000"/>
              </a:srgbClr>
            </a:outerShdw>
          </a:effectLst>
        </p:spPr>
        <p:txBody>
          <a:bodyPr/>
          <a:lstStyle/>
          <a:p>
            <a:endParaRPr lang="da-DK"/>
          </a:p>
        </p:txBody>
      </p:sp>
      <p:sp>
        <p:nvSpPr>
          <p:cNvPr id="9" name="Shape 6"/>
          <p:cNvSpPr/>
          <p:nvPr/>
        </p:nvSpPr>
        <p:spPr>
          <a:xfrm>
            <a:off x="667825" y="4391521"/>
            <a:ext cx="6284160" cy="950416"/>
          </a:xfrm>
          <a:custGeom>
            <a:avLst/>
            <a:gdLst/>
            <a:ahLst/>
            <a:cxnLst/>
            <a:rect l="l" t="t" r="r" b="b"/>
            <a:pathLst>
              <a:path w="6284160" h="950416">
                <a:moveTo>
                  <a:pt x="58921" y="0"/>
                </a:moveTo>
                <a:lnTo>
                  <a:pt x="6225239" y="0"/>
                </a:lnTo>
                <a:arcTo wR="58921" hR="58922" stAng="16200000" swAng="5400000"/>
                <a:lnTo>
                  <a:pt x="6284160" y="950416"/>
                </a:lnTo>
                <a:lnTo>
                  <a:pt x="0" y="950416"/>
                </a:lnTo>
                <a:lnTo>
                  <a:pt x="0" y="58922"/>
                </a:lnTo>
                <a:arcTo wR="58921" hR="58922" stAng="10800000" swAng="5400000"/>
                <a:close/>
              </a:path>
            </a:pathLst>
          </a:custGeom>
          <a:solidFill>
            <a:srgbClr val="F0DEDC"/>
          </a:solidFill>
          <a:ln/>
        </p:spPr>
        <p:txBody>
          <a:bodyPr/>
          <a:lstStyle/>
          <a:p>
            <a:endParaRPr lang="da-DK"/>
          </a:p>
        </p:txBody>
      </p:sp>
      <p:sp>
        <p:nvSpPr>
          <p:cNvPr id="10" name="Text 7"/>
          <p:cNvSpPr/>
          <p:nvPr/>
        </p:nvSpPr>
        <p:spPr>
          <a:xfrm>
            <a:off x="836095" y="4559796"/>
            <a:ext cx="5947618" cy="263029"/>
          </a:xfrm>
          <a:prstGeom prst="rect">
            <a:avLst/>
          </a:prstGeom>
          <a:noFill/>
          <a:ln/>
        </p:spPr>
        <p:txBody>
          <a:bodyPr wrap="none" lIns="0" tIns="0" rIns="0" bIns="0" rtlCol="0" anchor="t"/>
          <a:lstStyle/>
          <a:p>
            <a:pPr marL="0" indent="0" algn="l">
              <a:lnSpc>
                <a:spcPct val="104000"/>
              </a:lnSpc>
              <a:buNone/>
            </a:pPr>
            <a:r>
              <a:rPr lang="en-US" sz="1650" dirty="0">
                <a:solidFill>
                  <a:srgbClr val="000000"/>
                </a:solidFill>
                <a:latin typeface="Playfair Display SemiBold" pitchFamily="34" charset="0"/>
                <a:ea typeface="Playfair Display SemiBold" pitchFamily="34" charset="-122"/>
                <a:cs typeface="Playfair Display SemiBold" pitchFamily="34" charset="-120"/>
              </a:rPr>
              <a:t>serve</a:t>
            </a:r>
            <a:endParaRPr lang="en-US" sz="1650" dirty="0"/>
          </a:p>
        </p:txBody>
      </p:sp>
      <p:sp>
        <p:nvSpPr>
          <p:cNvPr id="11" name="Text 8"/>
          <p:cNvSpPr/>
          <p:nvPr/>
        </p:nvSpPr>
        <p:spPr>
          <a:xfrm>
            <a:off x="836095" y="4912717"/>
            <a:ext cx="5947618" cy="260945"/>
          </a:xfrm>
          <a:prstGeom prst="rect">
            <a:avLst/>
          </a:prstGeom>
          <a:noFill/>
          <a:ln/>
        </p:spPr>
        <p:txBody>
          <a:bodyPr wrap="none" lIns="0" tIns="0" rIns="0" bIns="0" rtlCol="0" anchor="t"/>
          <a:lstStyle/>
          <a:p>
            <a:pPr marL="0" indent="0" algn="l">
              <a:lnSpc>
                <a:spcPct val="126000"/>
              </a:lnSpc>
              <a:buNone/>
            </a:pPr>
            <a:r>
              <a:rPr lang="en-US" sz="1300" dirty="0">
                <a:solidFill>
                  <a:srgbClr val="000000"/>
                </a:solidFill>
                <a:latin typeface="Public Sans" pitchFamily="34" charset="0"/>
                <a:ea typeface="Public Sans" pitchFamily="34" charset="-122"/>
                <a:cs typeface="Public Sans" pitchFamily="34" charset="-120"/>
              </a:rPr>
              <a:t>Runs </a:t>
            </a:r>
            <a:r>
              <a:rPr lang="en-US" sz="1300" dirty="0">
                <a:solidFill>
                  <a:srgbClr val="000000"/>
                </a:solidFill>
                <a:highlight>
                  <a:srgbClr val="F2EDE9"/>
                </a:highlight>
                <a:latin typeface="Consolas" pitchFamily="34" charset="0"/>
                <a:ea typeface="Consolas" pitchFamily="34" charset="-122"/>
                <a:cs typeface="Consolas" pitchFamily="34" charset="-120"/>
              </a:rPr>
              <a:t>main.js</a:t>
            </a:r>
            <a:r>
              <a:rPr lang="en-US" sz="1300" dirty="0">
                <a:solidFill>
                  <a:srgbClr val="000000"/>
                </a:solidFill>
                <a:latin typeface="Public Sans" pitchFamily="34" charset="0"/>
                <a:ea typeface="Public Sans" pitchFamily="34" charset="-122"/>
                <a:cs typeface="Public Sans" pitchFamily="34" charset="-120"/>
              </a:rPr>
              <a:t> with file-watching and all required permissions</a:t>
            </a:r>
            <a:endParaRPr lang="en-US" sz="1300" dirty="0"/>
          </a:p>
        </p:txBody>
      </p:sp>
      <p:sp>
        <p:nvSpPr>
          <p:cNvPr id="12" name="Shape 9"/>
          <p:cNvSpPr/>
          <p:nvPr/>
        </p:nvSpPr>
        <p:spPr>
          <a:xfrm>
            <a:off x="667825" y="5341938"/>
            <a:ext cx="6284160" cy="950416"/>
          </a:xfrm>
          <a:custGeom>
            <a:avLst/>
            <a:gdLst/>
            <a:ahLst/>
            <a:cxnLst/>
            <a:rect l="l" t="t" r="r" b="b"/>
            <a:pathLst>
              <a:path w="6284160" h="950416">
                <a:moveTo>
                  <a:pt x="0" y="0"/>
                </a:moveTo>
                <a:lnTo>
                  <a:pt x="6284160" y="0"/>
                </a:lnTo>
                <a:lnTo>
                  <a:pt x="6284160" y="891494"/>
                </a:lnTo>
                <a:arcTo wR="58921" hR="58922" stAng="0" swAng="5400000"/>
                <a:lnTo>
                  <a:pt x="58921" y="950416"/>
                </a:lnTo>
                <a:arcTo wR="58921" hR="58922" stAng="5400000" swAng="5400000"/>
                <a:lnTo>
                  <a:pt x="0" y="0"/>
                </a:lnTo>
                <a:close/>
              </a:path>
            </a:pathLst>
          </a:custGeom>
          <a:solidFill>
            <a:srgbClr val="F0DEDC"/>
          </a:solidFill>
          <a:ln/>
        </p:spPr>
        <p:txBody>
          <a:bodyPr/>
          <a:lstStyle/>
          <a:p>
            <a:endParaRPr lang="da-DK"/>
          </a:p>
        </p:txBody>
      </p:sp>
      <p:sp>
        <p:nvSpPr>
          <p:cNvPr id="13" name="Shape 10"/>
          <p:cNvSpPr/>
          <p:nvPr/>
        </p:nvSpPr>
        <p:spPr>
          <a:xfrm>
            <a:off x="667825" y="5341938"/>
            <a:ext cx="6284160" cy="19050"/>
          </a:xfrm>
          <a:prstGeom prst="roundRect">
            <a:avLst>
              <a:gd name="adj" fmla="val 49999"/>
            </a:avLst>
          </a:prstGeom>
          <a:solidFill>
            <a:srgbClr val="B2AAD2"/>
          </a:solidFill>
          <a:ln/>
        </p:spPr>
        <p:txBody>
          <a:bodyPr/>
          <a:lstStyle/>
          <a:p>
            <a:endParaRPr lang="da-DK"/>
          </a:p>
        </p:txBody>
      </p:sp>
      <p:sp>
        <p:nvSpPr>
          <p:cNvPr id="14" name="Text 11"/>
          <p:cNvSpPr/>
          <p:nvPr/>
        </p:nvSpPr>
        <p:spPr>
          <a:xfrm>
            <a:off x="836095" y="5510213"/>
            <a:ext cx="5947618" cy="263029"/>
          </a:xfrm>
          <a:prstGeom prst="rect">
            <a:avLst/>
          </a:prstGeom>
          <a:noFill/>
          <a:ln/>
        </p:spPr>
        <p:txBody>
          <a:bodyPr wrap="none" lIns="0" tIns="0" rIns="0" bIns="0" rtlCol="0" anchor="t"/>
          <a:lstStyle/>
          <a:p>
            <a:pPr marL="0" indent="0" algn="l">
              <a:lnSpc>
                <a:spcPct val="104000"/>
              </a:lnSpc>
              <a:buNone/>
            </a:pPr>
            <a:r>
              <a:rPr lang="en-US" sz="1650" dirty="0">
                <a:solidFill>
                  <a:srgbClr val="000000"/>
                </a:solidFill>
                <a:latin typeface="Playfair Display SemiBold" pitchFamily="34" charset="0"/>
                <a:ea typeface="Playfair Display SemiBold" pitchFamily="34" charset="-122"/>
                <a:cs typeface="Playfair Display SemiBold" pitchFamily="34" charset="-120"/>
              </a:rPr>
              <a:t>db:create</a:t>
            </a:r>
            <a:endParaRPr lang="en-US" sz="1650" dirty="0"/>
          </a:p>
        </p:txBody>
      </p:sp>
      <p:sp>
        <p:nvSpPr>
          <p:cNvPr id="15" name="Text 12"/>
          <p:cNvSpPr/>
          <p:nvPr/>
        </p:nvSpPr>
        <p:spPr>
          <a:xfrm>
            <a:off x="836095" y="5863134"/>
            <a:ext cx="5947618" cy="260945"/>
          </a:xfrm>
          <a:prstGeom prst="rect">
            <a:avLst/>
          </a:prstGeom>
          <a:noFill/>
          <a:ln/>
        </p:spPr>
        <p:txBody>
          <a:bodyPr wrap="none" lIns="0" tIns="0" rIns="0" bIns="0" rtlCol="0" anchor="t"/>
          <a:lstStyle/>
          <a:p>
            <a:pPr marL="0" indent="0" algn="l">
              <a:lnSpc>
                <a:spcPct val="126000"/>
              </a:lnSpc>
              <a:buNone/>
            </a:pPr>
            <a:r>
              <a:rPr lang="en-US" sz="1300" dirty="0">
                <a:solidFill>
                  <a:srgbClr val="000000"/>
                </a:solidFill>
                <a:latin typeface="Public Sans" pitchFamily="34" charset="0"/>
                <a:ea typeface="Public Sans" pitchFamily="34" charset="-122"/>
                <a:cs typeface="Public Sans" pitchFamily="34" charset="-120"/>
              </a:rPr>
              <a:t>Runs </a:t>
            </a:r>
            <a:r>
              <a:rPr lang="en-US" sz="1300" dirty="0">
                <a:solidFill>
                  <a:srgbClr val="000000"/>
                </a:solidFill>
                <a:highlight>
                  <a:srgbClr val="F2EDE9"/>
                </a:highlight>
                <a:latin typeface="Consolas" pitchFamily="34" charset="0"/>
                <a:ea typeface="Consolas" pitchFamily="34" charset="-122"/>
                <a:cs typeface="Consolas" pitchFamily="34" charset="-120"/>
              </a:rPr>
              <a:t>db-create.js</a:t>
            </a:r>
            <a:r>
              <a:rPr lang="en-US" sz="1300" dirty="0">
                <a:solidFill>
                  <a:srgbClr val="000000"/>
                </a:solidFill>
                <a:latin typeface="Public Sans" pitchFamily="34" charset="0"/>
                <a:ea typeface="Public Sans" pitchFamily="34" charset="-122"/>
                <a:cs typeface="Public Sans" pitchFamily="34" charset="-120"/>
              </a:rPr>
              <a:t> to initialize or reset the database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550664"/>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B6981"/>
                </a:solidFill>
                <a:latin typeface="Playfair Display SemiBold" pitchFamily="34" charset="0"/>
                <a:ea typeface="Playfair Display SemiBold" pitchFamily="34" charset="-122"/>
                <a:cs typeface="Playfair Display SemiBold" pitchFamily="34" charset="-120"/>
              </a:rPr>
              <a:t>Step 6: Create Database &amp; Table</a:t>
            </a:r>
            <a:endParaRPr lang="en-US" sz="3700" dirty="0"/>
          </a:p>
        </p:txBody>
      </p:sp>
      <p:pic>
        <p:nvPicPr>
          <p:cNvPr id="3" name="Image 0" descr="preencoded.png"/>
          <p:cNvPicPr>
            <a:picLocks noChangeAspect="1"/>
          </p:cNvPicPr>
          <p:nvPr/>
        </p:nvPicPr>
        <p:blipFill>
          <a:blip r:embed="rId3"/>
          <a:stretch>
            <a:fillRect/>
          </a:stretch>
        </p:blipFill>
        <p:spPr>
          <a:xfrm>
            <a:off x="661475" y="2113855"/>
            <a:ext cx="3504219" cy="3504307"/>
          </a:xfrm>
          <a:prstGeom prst="rect">
            <a:avLst/>
          </a:prstGeom>
        </p:spPr>
      </p:pic>
      <p:sp>
        <p:nvSpPr>
          <p:cNvPr id="4" name="Text 1"/>
          <p:cNvSpPr/>
          <p:nvPr/>
        </p:nvSpPr>
        <p:spPr>
          <a:xfrm>
            <a:off x="4633201" y="1594842"/>
            <a:ext cx="6903269" cy="61118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6F655D"/>
                </a:solidFill>
                <a:latin typeface="Public Sans" pitchFamily="34" charset="0"/>
                <a:ea typeface="Public Sans" pitchFamily="34" charset="-122"/>
                <a:cs typeface="Public Sans" pitchFamily="34" charset="-120"/>
              </a:rPr>
              <a:t>With your tasks configured, run the following command in the terminal to create the </a:t>
            </a:r>
            <a:r>
              <a:rPr lang="en-US" sz="1450" dirty="0">
                <a:solidFill>
                  <a:srgbClr val="6F655D"/>
                </a:solidFill>
                <a:highlight>
                  <a:srgbClr val="F2EDE9"/>
                </a:highlight>
                <a:latin typeface="Consolas" pitchFamily="34" charset="0"/>
                <a:ea typeface="Consolas" pitchFamily="34" charset="-122"/>
                <a:cs typeface="Consolas" pitchFamily="34" charset="-120"/>
              </a:rPr>
              <a:t>students</a:t>
            </a:r>
            <a:r>
              <a:rPr lang="en-US" sz="1450" dirty="0">
                <a:solidFill>
                  <a:srgbClr val="6F655D"/>
                </a:solidFill>
                <a:latin typeface="Public Sans" pitchFamily="34" charset="0"/>
                <a:ea typeface="Public Sans" pitchFamily="34" charset="-122"/>
                <a:cs typeface="Public Sans" pitchFamily="34" charset="-120"/>
              </a:rPr>
              <a:t> table and populate it with the initial sample data:</a:t>
            </a:r>
            <a:endParaRPr lang="en-US" sz="1450" dirty="0"/>
          </a:p>
        </p:txBody>
      </p:sp>
      <p:sp>
        <p:nvSpPr>
          <p:cNvPr id="5" name="Shape 2"/>
          <p:cNvSpPr/>
          <p:nvPr/>
        </p:nvSpPr>
        <p:spPr>
          <a:xfrm>
            <a:off x="4633201" y="2418655"/>
            <a:ext cx="6903269" cy="680442"/>
          </a:xfrm>
          <a:prstGeom prst="roundRect">
            <a:avLst>
              <a:gd name="adj" fmla="val 11667"/>
            </a:avLst>
          </a:prstGeom>
          <a:solidFill>
            <a:srgbClr val="F2EDE9"/>
          </a:solidFill>
          <a:ln/>
        </p:spPr>
        <p:txBody>
          <a:bodyPr/>
          <a:lstStyle/>
          <a:p>
            <a:endParaRPr lang="da-DK"/>
          </a:p>
        </p:txBody>
      </p:sp>
      <p:sp>
        <p:nvSpPr>
          <p:cNvPr id="6" name="Text 3"/>
          <p:cNvSpPr/>
          <p:nvPr/>
        </p:nvSpPr>
        <p:spPr>
          <a:xfrm>
            <a:off x="4860010" y="2607667"/>
            <a:ext cx="7059237" cy="302419"/>
          </a:xfrm>
          <a:prstGeom prst="rect">
            <a:avLst/>
          </a:prstGeom>
          <a:noFill/>
          <a:ln/>
        </p:spPr>
        <p:txBody>
          <a:bodyPr wrap="none" lIns="0" tIns="0" rIns="0" bIns="0" rtlCol="0" anchor="t"/>
          <a:lstStyle/>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120"/>
              </a:rPr>
              <a:t>deno task db:create</a:t>
            </a:r>
            <a:endParaRPr lang="en-US" sz="1450" dirty="0"/>
          </a:p>
        </p:txBody>
      </p:sp>
      <p:sp>
        <p:nvSpPr>
          <p:cNvPr id="7" name="Text 4"/>
          <p:cNvSpPr/>
          <p:nvPr/>
        </p:nvSpPr>
        <p:spPr>
          <a:xfrm>
            <a:off x="4633201" y="3311723"/>
            <a:ext cx="7512854" cy="308769"/>
          </a:xfrm>
          <a:prstGeom prst="rect">
            <a:avLst/>
          </a:prstGeom>
          <a:noFill/>
          <a:ln/>
        </p:spPr>
        <p:txBody>
          <a:bodyPr wrap="none" lIns="0" tIns="0" rIns="0" bIns="0" rtlCol="0" anchor="t"/>
          <a:lstStyle/>
          <a:p>
            <a:pPr marL="0" indent="0" algn="l">
              <a:lnSpc>
                <a:spcPct val="133000"/>
              </a:lnSpc>
              <a:buNone/>
            </a:pPr>
            <a:r>
              <a:rPr lang="en-US" sz="1450" dirty="0">
                <a:solidFill>
                  <a:srgbClr val="6F655D"/>
                </a:solidFill>
                <a:latin typeface="Public Sans" pitchFamily="34" charset="0"/>
                <a:ea typeface="Public Sans" pitchFamily="34" charset="-122"/>
                <a:cs typeface="Public Sans" pitchFamily="34" charset="-120"/>
              </a:rPr>
              <a:t>After running this command, Deno will execute </a:t>
            </a:r>
            <a:r>
              <a:rPr lang="en-US" sz="1450" dirty="0">
                <a:solidFill>
                  <a:srgbClr val="6F655D"/>
                </a:solidFill>
                <a:highlight>
                  <a:srgbClr val="F2EDE9"/>
                </a:highlight>
                <a:latin typeface="Consolas" pitchFamily="34" charset="0"/>
                <a:ea typeface="Consolas" pitchFamily="34" charset="-122"/>
                <a:cs typeface="Consolas" pitchFamily="34" charset="-120"/>
              </a:rPr>
              <a:t>db-create.js</a:t>
            </a:r>
            <a:r>
              <a:rPr lang="en-US" sz="1450" dirty="0">
                <a:solidFill>
                  <a:srgbClr val="6F655D"/>
                </a:solidFill>
                <a:latin typeface="Public Sans" pitchFamily="34" charset="0"/>
                <a:ea typeface="Public Sans" pitchFamily="34" charset="-122"/>
                <a:cs typeface="Public Sans" pitchFamily="34" charset="-120"/>
              </a:rPr>
              <a:t>, which will:</a:t>
            </a:r>
            <a:endParaRPr lang="en-US" sz="1450" dirty="0"/>
          </a:p>
        </p:txBody>
      </p:sp>
      <p:sp>
        <p:nvSpPr>
          <p:cNvPr id="8" name="Text 5"/>
          <p:cNvSpPr/>
          <p:nvPr/>
        </p:nvSpPr>
        <p:spPr>
          <a:xfrm>
            <a:off x="4633201" y="3790553"/>
            <a:ext cx="6903269" cy="1045766"/>
          </a:xfrm>
          <a:prstGeom prst="rect">
            <a:avLst/>
          </a:prstGeom>
          <a:noFill/>
          <a:ln/>
        </p:spPr>
        <p:txBody>
          <a:bodyPr wrap="square" lIns="0" tIns="0" rIns="0" bIns="0" rtlCol="0" anchor="t">
            <a:normAutofit/>
          </a:bodyPr>
          <a:lstStyle/>
          <a:p>
            <a:pPr marL="294640" indent="-294640" algn="l">
              <a:lnSpc>
                <a:spcPct val="133000"/>
              </a:lnSpc>
              <a:buSzPct val="100000"/>
              <a:buChar char="•"/>
            </a:pPr>
            <a:r>
              <a:rPr lang="en-US" sz="1450" dirty="0">
                <a:solidFill>
                  <a:srgbClr val="6F655D"/>
                </a:solidFill>
                <a:latin typeface="Public Sans" pitchFamily="34" charset="0"/>
                <a:ea typeface="Public Sans" pitchFamily="34" charset="-122"/>
                <a:cs typeface="Public Sans" pitchFamily="34" charset="-120"/>
              </a:rPr>
              <a:t>Drop any existing </a:t>
            </a:r>
            <a:r>
              <a:rPr lang="en-US" sz="1450" dirty="0">
                <a:solidFill>
                  <a:srgbClr val="6F655D"/>
                </a:solidFill>
                <a:highlight>
                  <a:srgbClr val="F2EDE9"/>
                </a:highlight>
                <a:latin typeface="Consolas" pitchFamily="34" charset="0"/>
                <a:ea typeface="Consolas" pitchFamily="34" charset="-122"/>
                <a:cs typeface="Consolas" pitchFamily="34" charset="-120"/>
              </a:rPr>
              <a:t>students</a:t>
            </a:r>
            <a:r>
              <a:rPr lang="en-US" sz="1450" dirty="0">
                <a:solidFill>
                  <a:srgbClr val="6F655D"/>
                </a:solidFill>
                <a:latin typeface="Public Sans" pitchFamily="34" charset="0"/>
                <a:ea typeface="Public Sans" pitchFamily="34" charset="-122"/>
                <a:cs typeface="Public Sans" pitchFamily="34" charset="-120"/>
              </a:rPr>
              <a:t> table</a:t>
            </a:r>
            <a:endParaRPr lang="en-US" sz="1450" dirty="0"/>
          </a:p>
          <a:p>
            <a:pPr marL="294640" indent="-294640" algn="l">
              <a:lnSpc>
                <a:spcPct val="133000"/>
              </a:lnSpc>
              <a:buSzPct val="100000"/>
              <a:buChar char="•"/>
            </a:pPr>
            <a:r>
              <a:rPr lang="en-US" sz="1450" dirty="0">
                <a:solidFill>
                  <a:srgbClr val="6F655D"/>
                </a:solidFill>
                <a:latin typeface="Public Sans" pitchFamily="34" charset="0"/>
                <a:ea typeface="Public Sans" pitchFamily="34" charset="-122"/>
                <a:cs typeface="Public Sans" pitchFamily="34" charset="-120"/>
              </a:rPr>
              <a:t>Create a fresh table with the defined schema</a:t>
            </a:r>
            <a:endParaRPr lang="en-US" sz="1450" dirty="0"/>
          </a:p>
          <a:p>
            <a:pPr marL="294640" indent="-294640" algn="l">
              <a:lnSpc>
                <a:spcPct val="133000"/>
              </a:lnSpc>
              <a:buSzPct val="100000"/>
              <a:buChar char="•"/>
            </a:pPr>
            <a:r>
              <a:rPr lang="en-US" sz="1450" dirty="0">
                <a:solidFill>
                  <a:srgbClr val="6F655D"/>
                </a:solidFill>
                <a:latin typeface="Public Sans" pitchFamily="34" charset="0"/>
                <a:ea typeface="Public Sans" pitchFamily="34" charset="-122"/>
                <a:cs typeface="Public Sans" pitchFamily="34" charset="-120"/>
              </a:rPr>
              <a:t>Insert the sample records for Sudarshan and Mahadi</a:t>
            </a:r>
            <a:endParaRPr lang="en-US" sz="1450" dirty="0"/>
          </a:p>
        </p:txBody>
      </p:sp>
      <p:sp>
        <p:nvSpPr>
          <p:cNvPr id="9" name="Shape 6"/>
          <p:cNvSpPr/>
          <p:nvPr/>
        </p:nvSpPr>
        <p:spPr>
          <a:xfrm>
            <a:off x="4633201" y="5048945"/>
            <a:ext cx="6903269" cy="1045766"/>
          </a:xfrm>
          <a:prstGeom prst="roundRect">
            <a:avLst>
              <a:gd name="adj" fmla="val 7591"/>
            </a:avLst>
          </a:prstGeom>
          <a:solidFill>
            <a:srgbClr val="B6FCB8"/>
          </a:solidFill>
          <a:ln/>
        </p:spPr>
        <p:txBody>
          <a:bodyPr/>
          <a:lstStyle/>
          <a:p>
            <a:endParaRPr lang="da-DK"/>
          </a:p>
        </p:txBody>
      </p:sp>
      <p:pic>
        <p:nvPicPr>
          <p:cNvPr id="10" name="Image 1" descr="preencoded.png"/>
          <p:cNvPicPr>
            <a:picLocks noChangeAspect="1"/>
          </p:cNvPicPr>
          <p:nvPr/>
        </p:nvPicPr>
        <p:blipFill>
          <a:blip r:embed="rId4"/>
          <a:stretch>
            <a:fillRect/>
          </a:stretch>
        </p:blipFill>
        <p:spPr>
          <a:xfrm>
            <a:off x="4822208" y="5335687"/>
            <a:ext cx="236234" cy="189012"/>
          </a:xfrm>
          <a:prstGeom prst="rect">
            <a:avLst/>
          </a:prstGeom>
        </p:spPr>
      </p:pic>
      <p:sp>
        <p:nvSpPr>
          <p:cNvPr id="11" name="Text 7"/>
          <p:cNvSpPr/>
          <p:nvPr/>
        </p:nvSpPr>
        <p:spPr>
          <a:xfrm>
            <a:off x="5247449" y="5266234"/>
            <a:ext cx="6100015" cy="611188"/>
          </a:xfrm>
          <a:prstGeom prst="rect">
            <a:avLst/>
          </a:prstGeom>
          <a:noFill/>
          <a:ln/>
        </p:spPr>
        <p:txBody>
          <a:bodyPr wrap="square" lIns="0" tIns="0" rIns="0" bIns="0" rtlCol="0" anchor="t">
            <a:normAutofit/>
          </a:bodyPr>
          <a:lstStyle/>
          <a:p>
            <a:pPr marL="0" indent="0" algn="l">
              <a:lnSpc>
                <a:spcPct val="133000"/>
              </a:lnSpc>
              <a:buNone/>
            </a:pPr>
            <a:r>
              <a:rPr lang="en-US" sz="1450" dirty="0">
                <a:solidFill>
                  <a:srgbClr val="000000"/>
                </a:solidFill>
                <a:latin typeface="Public Sans" pitchFamily="34" charset="0"/>
                <a:ea typeface="Public Sans" pitchFamily="34" charset="-122"/>
                <a:cs typeface="Public Sans" pitchFamily="34" charset="-120"/>
              </a:rPr>
              <a:t>You can verify the result by opening </a:t>
            </a:r>
            <a:r>
              <a:rPr lang="en-US" sz="1450" dirty="0">
                <a:solidFill>
                  <a:srgbClr val="000000"/>
                </a:solidFill>
                <a:highlight>
                  <a:srgbClr val="F2EDE9"/>
                </a:highlight>
                <a:latin typeface="Consolas" pitchFamily="34" charset="0"/>
                <a:ea typeface="Consolas" pitchFamily="34" charset="-122"/>
                <a:cs typeface="Consolas" pitchFamily="34" charset="-120"/>
              </a:rPr>
              <a:t>studentsDB.db</a:t>
            </a:r>
            <a:r>
              <a:rPr lang="en-US" sz="1450" dirty="0">
                <a:solidFill>
                  <a:srgbClr val="000000"/>
                </a:solidFill>
                <a:latin typeface="Public Sans" pitchFamily="34" charset="0"/>
                <a:ea typeface="Public Sans" pitchFamily="34" charset="-122"/>
                <a:cs typeface="Public Sans" pitchFamily="34" charset="-120"/>
              </a:rPr>
              <a:t> with the SQLite extension in VS Code.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19807"/>
            <a:ext cx="10868745" cy="553740"/>
          </a:xfrm>
          <a:prstGeom prst="rect">
            <a:avLst/>
          </a:prstGeom>
          <a:noFill/>
          <a:ln/>
        </p:spPr>
        <p:txBody>
          <a:bodyPr wrap="none" lIns="0" tIns="0" rIns="0" bIns="0" rtlCol="0" anchor="t"/>
          <a:lstStyle/>
          <a:p>
            <a:pPr marL="0" indent="0" algn="l">
              <a:lnSpc>
                <a:spcPct val="104000"/>
              </a:lnSpc>
              <a:buNone/>
            </a:pPr>
            <a:r>
              <a:rPr lang="en-US" sz="3450" dirty="0">
                <a:solidFill>
                  <a:srgbClr val="4B6981"/>
                </a:solidFill>
                <a:latin typeface="Playfair Display SemiBold" pitchFamily="34" charset="0"/>
                <a:ea typeface="Playfair Display SemiBold" pitchFamily="34" charset="-122"/>
                <a:cs typeface="Playfair Display SemiBold" pitchFamily="34" charset="-120"/>
              </a:rPr>
              <a:t>Step 7: Create Read Model</a:t>
            </a:r>
            <a:endParaRPr lang="en-US" sz="3450" dirty="0"/>
          </a:p>
        </p:txBody>
      </p:sp>
      <p:sp>
        <p:nvSpPr>
          <p:cNvPr id="3" name="Text 1"/>
          <p:cNvSpPr/>
          <p:nvPr/>
        </p:nvSpPr>
        <p:spPr>
          <a:xfrm>
            <a:off x="661475" y="1405731"/>
            <a:ext cx="10868745"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6F655D"/>
                </a:solidFill>
                <a:latin typeface="Public Sans" pitchFamily="34" charset="0"/>
                <a:ea typeface="Public Sans" pitchFamily="34" charset="-122"/>
                <a:cs typeface="Public Sans" pitchFamily="34" charset="-120"/>
              </a:rPr>
              <a:t>In your </a:t>
            </a:r>
            <a:r>
              <a:rPr lang="en-US" sz="1350" b="1" dirty="0">
                <a:solidFill>
                  <a:srgbClr val="6F655D"/>
                </a:solidFill>
                <a:latin typeface="Public Sans Bold" pitchFamily="34" charset="0"/>
                <a:ea typeface="Public Sans Bold" pitchFamily="34" charset="-122"/>
                <a:cs typeface="Public Sans Bold" pitchFamily="34" charset="-120"/>
              </a:rPr>
              <a:t>models folder</a:t>
            </a:r>
            <a:r>
              <a:rPr lang="en-US" sz="1350" dirty="0">
                <a:solidFill>
                  <a:srgbClr val="6F655D"/>
                </a:solidFill>
                <a:latin typeface="Public Sans" pitchFamily="34" charset="0"/>
                <a:ea typeface="Public Sans" pitchFamily="34" charset="-122"/>
                <a:cs typeface="Public Sans" pitchFamily="34" charset="-120"/>
              </a:rPr>
              <a:t>, create </a:t>
            </a:r>
            <a:r>
              <a:rPr lang="en-US" sz="1350" dirty="0">
                <a:solidFill>
                  <a:srgbClr val="6F655D"/>
                </a:solidFill>
                <a:highlight>
                  <a:srgbClr val="F2EDE9"/>
                </a:highlight>
                <a:latin typeface="Consolas" pitchFamily="34" charset="0"/>
                <a:ea typeface="Consolas" pitchFamily="34" charset="-122"/>
                <a:cs typeface="Consolas" pitchFamily="34" charset="-120"/>
              </a:rPr>
              <a:t>read.js</a:t>
            </a:r>
            <a:r>
              <a:rPr lang="en-US" sz="1350" dirty="0">
                <a:solidFill>
                  <a:srgbClr val="6F655D"/>
                </a:solidFill>
                <a:latin typeface="Public Sans" pitchFamily="34" charset="0"/>
                <a:ea typeface="Public Sans" pitchFamily="34" charset="-122"/>
                <a:cs typeface="Public Sans" pitchFamily="34" charset="-120"/>
              </a:rPr>
              <a:t>. This module exports a function that queries all students from the database and returns them as an array.</a:t>
            </a:r>
            <a:endParaRPr lang="en-US" sz="1350" dirty="0"/>
          </a:p>
        </p:txBody>
      </p:sp>
      <p:sp>
        <p:nvSpPr>
          <p:cNvPr id="4" name="Shape 2"/>
          <p:cNvSpPr/>
          <p:nvPr/>
        </p:nvSpPr>
        <p:spPr>
          <a:xfrm>
            <a:off x="661475" y="2328664"/>
            <a:ext cx="5218280" cy="3189089"/>
          </a:xfrm>
          <a:prstGeom prst="roundRect">
            <a:avLst>
              <a:gd name="adj" fmla="val 2334"/>
            </a:avLst>
          </a:prstGeom>
          <a:solidFill>
            <a:srgbClr val="F2EDE9"/>
          </a:solidFill>
          <a:ln/>
        </p:spPr>
        <p:txBody>
          <a:bodyPr/>
          <a:lstStyle/>
          <a:p>
            <a:endParaRPr lang="da-DK"/>
          </a:p>
        </p:txBody>
      </p:sp>
      <p:sp>
        <p:nvSpPr>
          <p:cNvPr id="5" name="Text 3"/>
          <p:cNvSpPr/>
          <p:nvPr/>
        </p:nvSpPr>
        <p:spPr>
          <a:xfrm>
            <a:off x="874095" y="2505869"/>
            <a:ext cx="4793039" cy="2834680"/>
          </a:xfrm>
          <a:prstGeom prst="rect">
            <a:avLst/>
          </a:prstGeom>
          <a:noFill/>
          <a:ln/>
        </p:spPr>
        <p:txBody>
          <a:bodyPr wrap="square" lIns="0" tIns="0" rIns="0" bIns="0" rtlCol="0" anchor="t">
            <a:normAutofit/>
          </a:bodyPr>
          <a:lstStyle/>
          <a:p>
            <a:pPr marL="0" indent="0" algn="l">
              <a:lnSpc>
                <a:spcPct val="133000"/>
              </a:lnSpc>
              <a:buNone/>
            </a:pPr>
            <a:r>
              <a:rPr lang="en-US" sz="1350" dirty="0">
                <a:solidFill>
                  <a:srgbClr val="D73A49"/>
                </a:solidFill>
                <a:latin typeface="Consolas" pitchFamily="34" charset="0"/>
                <a:ea typeface="Consolas" pitchFamily="34" charset="-122"/>
                <a:cs typeface="Consolas" pitchFamily="34" charset="-120"/>
              </a:rPr>
              <a:t>import { db } from '../db.js';</a:t>
            </a:r>
            <a:endParaRPr lang="en-US" sz="1350" dirty="0"/>
          </a:p>
          <a:p>
            <a:pPr marL="0" indent="0" algn="l">
              <a:lnSpc>
                <a:spcPct val="133000"/>
              </a:lnSpc>
              <a:buNone/>
            </a:pPr>
            <a:endParaRPr lang="en-US" sz="1350" dirty="0"/>
          </a:p>
          <a:p>
            <a:pPr marL="0" indent="0" algn="l">
              <a:lnSpc>
                <a:spcPct val="133000"/>
              </a:lnSpc>
              <a:buNone/>
            </a:pPr>
            <a:r>
              <a:rPr lang="en-US" sz="1350" dirty="0">
                <a:solidFill>
                  <a:srgbClr val="D73A49"/>
                </a:solidFill>
                <a:latin typeface="Consolas" pitchFamily="34" charset="0"/>
                <a:ea typeface="Consolas" pitchFamily="34" charset="-122"/>
                <a:cs typeface="Consolas" pitchFamily="34" charset="-120"/>
              </a:rPr>
              <a:t>export default function readStudents() {</a:t>
            </a:r>
            <a:endParaRPr lang="en-US" sz="1350" dirty="0"/>
          </a:p>
          <a:p>
            <a:pPr marL="0" indent="0" algn="l">
              <a:lnSpc>
                <a:spcPct val="133000"/>
              </a:lnSpc>
              <a:buNone/>
            </a:pPr>
            <a:r>
              <a:rPr lang="en-US" sz="1350" dirty="0">
                <a:solidFill>
                  <a:srgbClr val="D73A49"/>
                </a:solidFill>
                <a:latin typeface="Consolas" pitchFamily="34" charset="0"/>
                <a:ea typeface="Consolas" pitchFamily="34" charset="-122"/>
                <a:cs typeface="Consolas" pitchFamily="34" charset="-120"/>
              </a:rPr>
              <a:t>  const query = db.prepare(</a:t>
            </a:r>
            <a:endParaRPr lang="en-US" sz="1350" dirty="0"/>
          </a:p>
          <a:p>
            <a:pPr marL="0" indent="0" algn="l">
              <a:lnSpc>
                <a:spcPct val="133000"/>
              </a:lnSpc>
              <a:buNone/>
            </a:pPr>
            <a:r>
              <a:rPr lang="en-US" sz="1350" dirty="0">
                <a:solidFill>
                  <a:srgbClr val="D73A49"/>
                </a:solidFill>
                <a:latin typeface="Consolas" pitchFamily="34" charset="0"/>
                <a:ea typeface="Consolas" pitchFamily="34" charset="-122"/>
                <a:cs typeface="Consolas" pitchFamily="34" charset="-120"/>
              </a:rPr>
              <a:t>    "SELECT * FROM students"</a:t>
            </a:r>
            <a:endParaRPr lang="en-US" sz="1350" dirty="0"/>
          </a:p>
          <a:p>
            <a:pPr marL="0" indent="0" algn="l">
              <a:lnSpc>
                <a:spcPct val="133000"/>
              </a:lnSpc>
              <a:buNone/>
            </a:pPr>
            <a:r>
              <a:rPr lang="en-US" sz="1350" dirty="0">
                <a:solidFill>
                  <a:srgbClr val="D73A49"/>
                </a:solidFill>
                <a:latin typeface="Consolas" pitchFamily="34" charset="0"/>
                <a:ea typeface="Consolas" pitchFamily="34" charset="-122"/>
                <a:cs typeface="Consolas" pitchFamily="34" charset="-120"/>
              </a:rPr>
              <a:t>  );</a:t>
            </a:r>
            <a:endParaRPr lang="en-US" sz="1350" dirty="0"/>
          </a:p>
          <a:p>
            <a:pPr marL="0" indent="0" algn="l">
              <a:lnSpc>
                <a:spcPct val="133000"/>
              </a:lnSpc>
              <a:buNone/>
            </a:pPr>
            <a:r>
              <a:rPr lang="en-US" sz="1350" dirty="0">
                <a:solidFill>
                  <a:srgbClr val="D73A49"/>
                </a:solidFill>
                <a:latin typeface="Consolas" pitchFamily="34" charset="0"/>
                <a:ea typeface="Consolas" pitchFamily="34" charset="-122"/>
                <a:cs typeface="Consolas" pitchFamily="34" charset="-120"/>
              </a:rPr>
              <a:t>  const students = query.all();</a:t>
            </a:r>
            <a:endParaRPr lang="en-US" sz="1350" dirty="0"/>
          </a:p>
          <a:p>
            <a:pPr marL="0" indent="0" algn="l">
              <a:lnSpc>
                <a:spcPct val="133000"/>
              </a:lnSpc>
              <a:buNone/>
            </a:pPr>
            <a:r>
              <a:rPr lang="en-US" sz="1350" dirty="0">
                <a:solidFill>
                  <a:srgbClr val="D73A49"/>
                </a:solidFill>
                <a:latin typeface="Consolas" pitchFamily="34" charset="0"/>
                <a:ea typeface="Consolas" pitchFamily="34" charset="-122"/>
                <a:cs typeface="Consolas" pitchFamily="34" charset="-120"/>
              </a:rPr>
              <a:t>  query.finalize();</a:t>
            </a:r>
            <a:endParaRPr lang="en-US" sz="1350" dirty="0"/>
          </a:p>
          <a:p>
            <a:pPr marL="0" indent="0" algn="l">
              <a:lnSpc>
                <a:spcPct val="133000"/>
              </a:lnSpc>
              <a:buNone/>
            </a:pPr>
            <a:r>
              <a:rPr lang="en-US" sz="1350" dirty="0">
                <a:solidFill>
                  <a:srgbClr val="D73A49"/>
                </a:solidFill>
                <a:latin typeface="Consolas" pitchFamily="34" charset="0"/>
                <a:ea typeface="Consolas" pitchFamily="34" charset="-122"/>
                <a:cs typeface="Consolas" pitchFamily="34" charset="-120"/>
              </a:rPr>
              <a:t>  return students;</a:t>
            </a:r>
            <a:endParaRPr lang="en-US" sz="1350" dirty="0"/>
          </a:p>
          <a:p>
            <a:pPr marL="0" indent="0" algn="l">
              <a:lnSpc>
                <a:spcPct val="133000"/>
              </a:lnSpc>
              <a:buNone/>
            </a:pPr>
            <a:r>
              <a:rPr lang="en-US" sz="1350" dirty="0">
                <a:solidFill>
                  <a:srgbClr val="D73A49"/>
                </a:solidFill>
                <a:latin typeface="Consolas" pitchFamily="34" charset="0"/>
                <a:ea typeface="Consolas" pitchFamily="34" charset="-122"/>
                <a:cs typeface="Consolas" pitchFamily="34" charset="-120"/>
              </a:rPr>
              <a:t>}</a:t>
            </a:r>
            <a:endParaRPr lang="en-US" sz="1350" dirty="0"/>
          </a:p>
        </p:txBody>
      </p:sp>
      <p:sp>
        <p:nvSpPr>
          <p:cNvPr id="6" name="Shape 4"/>
          <p:cNvSpPr/>
          <p:nvPr/>
        </p:nvSpPr>
        <p:spPr>
          <a:xfrm>
            <a:off x="6318290" y="2328664"/>
            <a:ext cx="398651" cy="398661"/>
          </a:xfrm>
          <a:prstGeom prst="roundRect">
            <a:avLst>
              <a:gd name="adj" fmla="val 18669"/>
            </a:avLst>
          </a:prstGeom>
          <a:solidFill>
            <a:srgbClr val="E1C2C2">
              <a:alpha val="50000"/>
            </a:srgbClr>
          </a:solidFill>
          <a:ln w="6350">
            <a:solidFill>
              <a:srgbClr val="C7A8A8"/>
            </a:solidFill>
            <a:prstDash val="solid"/>
          </a:ln>
          <a:effectLst>
            <a:outerShdw blurRad="127" dist="22860" dir="2700000" algn="bl" rotWithShape="0">
              <a:srgbClr val="C7A8A8">
                <a:alpha val="100000"/>
              </a:srgbClr>
            </a:outerShdw>
          </a:effectLst>
        </p:spPr>
        <p:txBody>
          <a:bodyPr/>
          <a:lstStyle/>
          <a:p>
            <a:endParaRPr lang="da-DK"/>
          </a:p>
        </p:txBody>
      </p:sp>
      <p:sp>
        <p:nvSpPr>
          <p:cNvPr id="7" name="Text 5"/>
          <p:cNvSpPr/>
          <p:nvPr/>
        </p:nvSpPr>
        <p:spPr>
          <a:xfrm>
            <a:off x="6384716" y="2361902"/>
            <a:ext cx="265800" cy="332184"/>
          </a:xfrm>
          <a:prstGeom prst="rect">
            <a:avLst/>
          </a:prstGeom>
          <a:noFill/>
          <a:ln/>
        </p:spPr>
        <p:txBody>
          <a:bodyPr wrap="none" lIns="0" tIns="0" rIns="0" bIns="0" rtlCol="0" anchor="ctr"/>
          <a:lstStyle/>
          <a:p>
            <a:pPr marL="0" indent="0" algn="ctr">
              <a:lnSpc>
                <a:spcPct val="100000"/>
              </a:lnSpc>
              <a:buNone/>
            </a:pPr>
            <a:r>
              <a:rPr lang="en-US" sz="2050" dirty="0">
                <a:solidFill>
                  <a:srgbClr val="000000"/>
                </a:solidFill>
                <a:latin typeface="Playfair Display SemiBold" pitchFamily="34" charset="0"/>
                <a:ea typeface="Playfair Display SemiBold" pitchFamily="34" charset="-122"/>
                <a:cs typeface="Playfair Display SemiBold" pitchFamily="34" charset="-120"/>
              </a:rPr>
              <a:t>1</a:t>
            </a:r>
            <a:endParaRPr lang="en-US" sz="2050" dirty="0"/>
          </a:p>
        </p:txBody>
      </p:sp>
      <p:sp>
        <p:nvSpPr>
          <p:cNvPr id="8" name="Text 6"/>
          <p:cNvSpPr/>
          <p:nvPr/>
        </p:nvSpPr>
        <p:spPr>
          <a:xfrm>
            <a:off x="6883029" y="2389485"/>
            <a:ext cx="4653541" cy="276920"/>
          </a:xfrm>
          <a:prstGeom prst="rect">
            <a:avLst/>
          </a:prstGeom>
          <a:noFill/>
          <a:ln/>
        </p:spPr>
        <p:txBody>
          <a:bodyPr wrap="none" lIns="0" tIns="0" rIns="0" bIns="0" rtlCol="0" anchor="t"/>
          <a:lstStyle/>
          <a:p>
            <a:pPr marL="0" indent="0" algn="l">
              <a:lnSpc>
                <a:spcPct val="104000"/>
              </a:lnSpc>
              <a:buNone/>
            </a:pPr>
            <a:r>
              <a:rPr lang="en-US" sz="1700" dirty="0">
                <a:solidFill>
                  <a:srgbClr val="6F655D"/>
                </a:solidFill>
                <a:latin typeface="Playfair Display SemiBold" pitchFamily="34" charset="0"/>
                <a:ea typeface="Playfair Display SemiBold" pitchFamily="34" charset="-122"/>
                <a:cs typeface="Playfair Display SemiBold" pitchFamily="34" charset="-120"/>
              </a:rPr>
              <a:t>Prepare</a:t>
            </a:r>
            <a:endParaRPr lang="en-US" sz="1700" dirty="0"/>
          </a:p>
        </p:txBody>
      </p:sp>
      <p:sp>
        <p:nvSpPr>
          <p:cNvPr id="9" name="Text 7"/>
          <p:cNvSpPr/>
          <p:nvPr/>
        </p:nvSpPr>
        <p:spPr>
          <a:xfrm>
            <a:off x="6883029" y="2832497"/>
            <a:ext cx="4653541"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6F655D"/>
                </a:solidFill>
                <a:latin typeface="Public Sans" pitchFamily="34" charset="0"/>
                <a:ea typeface="Public Sans" pitchFamily="34" charset="-122"/>
                <a:cs typeface="Public Sans" pitchFamily="34" charset="-120"/>
              </a:rPr>
              <a:t>Use </a:t>
            </a:r>
            <a:r>
              <a:rPr lang="en-US" sz="1350" dirty="0">
                <a:solidFill>
                  <a:srgbClr val="6F655D"/>
                </a:solidFill>
                <a:highlight>
                  <a:srgbClr val="F2EDE9"/>
                </a:highlight>
                <a:latin typeface="Consolas" pitchFamily="34" charset="0"/>
                <a:ea typeface="Consolas" pitchFamily="34" charset="-122"/>
                <a:cs typeface="Consolas" pitchFamily="34" charset="-120"/>
              </a:rPr>
              <a:t>db.prepare()</a:t>
            </a:r>
            <a:r>
              <a:rPr lang="en-US" sz="1350" dirty="0">
                <a:solidFill>
                  <a:srgbClr val="6F655D"/>
                </a:solidFill>
                <a:latin typeface="Public Sans" pitchFamily="34" charset="0"/>
                <a:ea typeface="Public Sans" pitchFamily="34" charset="-122"/>
                <a:cs typeface="Public Sans" pitchFamily="34" charset="-120"/>
              </a:rPr>
              <a:t> to compile the SQL SELECT statement into a reusable query object</a:t>
            </a:r>
            <a:endParaRPr lang="en-US" sz="1350" dirty="0"/>
          </a:p>
        </p:txBody>
      </p:sp>
      <p:sp>
        <p:nvSpPr>
          <p:cNvPr id="10" name="Shape 8"/>
          <p:cNvSpPr/>
          <p:nvPr/>
        </p:nvSpPr>
        <p:spPr>
          <a:xfrm>
            <a:off x="6318290" y="3713956"/>
            <a:ext cx="398651" cy="398661"/>
          </a:xfrm>
          <a:prstGeom prst="roundRect">
            <a:avLst>
              <a:gd name="adj" fmla="val 18669"/>
            </a:avLst>
          </a:prstGeom>
          <a:solidFill>
            <a:srgbClr val="CCC4EC">
              <a:alpha val="50000"/>
            </a:srgbClr>
          </a:solidFill>
          <a:ln w="6350">
            <a:solidFill>
              <a:srgbClr val="B2AAD2"/>
            </a:solidFill>
            <a:prstDash val="solid"/>
          </a:ln>
          <a:effectLst>
            <a:outerShdw blurRad="127" dist="22860" dir="2700000" algn="bl" rotWithShape="0">
              <a:srgbClr val="B2AAD2">
                <a:alpha val="100000"/>
              </a:srgbClr>
            </a:outerShdw>
          </a:effectLst>
        </p:spPr>
        <p:txBody>
          <a:bodyPr/>
          <a:lstStyle/>
          <a:p>
            <a:endParaRPr lang="da-DK"/>
          </a:p>
        </p:txBody>
      </p:sp>
      <p:sp>
        <p:nvSpPr>
          <p:cNvPr id="11" name="Text 9"/>
          <p:cNvSpPr/>
          <p:nvPr/>
        </p:nvSpPr>
        <p:spPr>
          <a:xfrm>
            <a:off x="6384716" y="3747195"/>
            <a:ext cx="265800" cy="332184"/>
          </a:xfrm>
          <a:prstGeom prst="rect">
            <a:avLst/>
          </a:prstGeom>
          <a:noFill/>
          <a:ln/>
        </p:spPr>
        <p:txBody>
          <a:bodyPr wrap="none" lIns="0" tIns="0" rIns="0" bIns="0" rtlCol="0" anchor="ctr"/>
          <a:lstStyle/>
          <a:p>
            <a:pPr marL="0" indent="0" algn="ctr">
              <a:lnSpc>
                <a:spcPct val="100000"/>
              </a:lnSpc>
              <a:buNone/>
            </a:pPr>
            <a:r>
              <a:rPr lang="en-US" sz="2050" dirty="0">
                <a:solidFill>
                  <a:srgbClr val="000000"/>
                </a:solidFill>
                <a:latin typeface="Playfair Display SemiBold" pitchFamily="34" charset="0"/>
                <a:ea typeface="Playfair Display SemiBold" pitchFamily="34" charset="-122"/>
                <a:cs typeface="Playfair Display SemiBold" pitchFamily="34" charset="-120"/>
              </a:rPr>
              <a:t>2</a:t>
            </a:r>
            <a:endParaRPr lang="en-US" sz="2050" dirty="0"/>
          </a:p>
        </p:txBody>
      </p:sp>
      <p:sp>
        <p:nvSpPr>
          <p:cNvPr id="12" name="Text 10"/>
          <p:cNvSpPr/>
          <p:nvPr/>
        </p:nvSpPr>
        <p:spPr>
          <a:xfrm>
            <a:off x="6883029" y="3774777"/>
            <a:ext cx="4653541" cy="276920"/>
          </a:xfrm>
          <a:prstGeom prst="rect">
            <a:avLst/>
          </a:prstGeom>
          <a:noFill/>
          <a:ln/>
        </p:spPr>
        <p:txBody>
          <a:bodyPr wrap="none" lIns="0" tIns="0" rIns="0" bIns="0" rtlCol="0" anchor="t"/>
          <a:lstStyle/>
          <a:p>
            <a:pPr marL="0" indent="0" algn="l">
              <a:lnSpc>
                <a:spcPct val="104000"/>
              </a:lnSpc>
              <a:buNone/>
            </a:pPr>
            <a:r>
              <a:rPr lang="en-US" sz="1700" dirty="0">
                <a:solidFill>
                  <a:srgbClr val="6F655D"/>
                </a:solidFill>
                <a:latin typeface="Playfair Display SemiBold" pitchFamily="34" charset="0"/>
                <a:ea typeface="Playfair Display SemiBold" pitchFamily="34" charset="-122"/>
                <a:cs typeface="Playfair Display SemiBold" pitchFamily="34" charset="-120"/>
              </a:rPr>
              <a:t>Execute</a:t>
            </a:r>
            <a:endParaRPr lang="en-US" sz="1700" dirty="0"/>
          </a:p>
        </p:txBody>
      </p:sp>
      <p:sp>
        <p:nvSpPr>
          <p:cNvPr id="13" name="Text 11"/>
          <p:cNvSpPr/>
          <p:nvPr/>
        </p:nvSpPr>
        <p:spPr>
          <a:xfrm>
            <a:off x="6883029" y="4217789"/>
            <a:ext cx="4653541"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6F655D"/>
                </a:solidFill>
                <a:latin typeface="Public Sans" pitchFamily="34" charset="0"/>
                <a:ea typeface="Public Sans" pitchFamily="34" charset="-122"/>
                <a:cs typeface="Public Sans" pitchFamily="34" charset="-120"/>
              </a:rPr>
              <a:t>Call </a:t>
            </a:r>
            <a:r>
              <a:rPr lang="en-US" sz="1350" dirty="0">
                <a:solidFill>
                  <a:srgbClr val="6F655D"/>
                </a:solidFill>
                <a:highlight>
                  <a:srgbClr val="F2EDE9"/>
                </a:highlight>
                <a:latin typeface="Consolas" pitchFamily="34" charset="0"/>
                <a:ea typeface="Consolas" pitchFamily="34" charset="-122"/>
                <a:cs typeface="Consolas" pitchFamily="34" charset="-120"/>
              </a:rPr>
              <a:t>query.all()</a:t>
            </a:r>
            <a:r>
              <a:rPr lang="en-US" sz="1350" dirty="0">
                <a:solidFill>
                  <a:srgbClr val="6F655D"/>
                </a:solidFill>
                <a:latin typeface="Public Sans" pitchFamily="34" charset="0"/>
                <a:ea typeface="Public Sans" pitchFamily="34" charset="-122"/>
                <a:cs typeface="Public Sans" pitchFamily="34" charset="-120"/>
              </a:rPr>
              <a:t> to run the query and retrieve all student rows as an array</a:t>
            </a:r>
            <a:endParaRPr lang="en-US" sz="1350" dirty="0"/>
          </a:p>
        </p:txBody>
      </p:sp>
      <p:sp>
        <p:nvSpPr>
          <p:cNvPr id="14" name="Shape 12"/>
          <p:cNvSpPr/>
          <p:nvPr/>
        </p:nvSpPr>
        <p:spPr>
          <a:xfrm>
            <a:off x="6318290" y="5099248"/>
            <a:ext cx="398651" cy="398661"/>
          </a:xfrm>
          <a:prstGeom prst="roundRect">
            <a:avLst>
              <a:gd name="adj" fmla="val 18669"/>
            </a:avLst>
          </a:prstGeom>
          <a:solidFill>
            <a:srgbClr val="B4DAE4">
              <a:alpha val="50000"/>
            </a:srgbClr>
          </a:solidFill>
          <a:ln w="6350">
            <a:solidFill>
              <a:srgbClr val="9AC0CA"/>
            </a:solidFill>
            <a:prstDash val="solid"/>
          </a:ln>
          <a:effectLst>
            <a:outerShdw blurRad="127" dist="22860" dir="2700000" algn="bl" rotWithShape="0">
              <a:srgbClr val="9AC0CA">
                <a:alpha val="100000"/>
              </a:srgbClr>
            </a:outerShdw>
          </a:effectLst>
        </p:spPr>
        <p:txBody>
          <a:bodyPr/>
          <a:lstStyle/>
          <a:p>
            <a:endParaRPr lang="da-DK"/>
          </a:p>
        </p:txBody>
      </p:sp>
      <p:sp>
        <p:nvSpPr>
          <p:cNvPr id="15" name="Text 13"/>
          <p:cNvSpPr/>
          <p:nvPr/>
        </p:nvSpPr>
        <p:spPr>
          <a:xfrm>
            <a:off x="6384716" y="5132487"/>
            <a:ext cx="265800" cy="332184"/>
          </a:xfrm>
          <a:prstGeom prst="rect">
            <a:avLst/>
          </a:prstGeom>
          <a:noFill/>
          <a:ln/>
        </p:spPr>
        <p:txBody>
          <a:bodyPr wrap="none" lIns="0" tIns="0" rIns="0" bIns="0" rtlCol="0" anchor="ctr"/>
          <a:lstStyle/>
          <a:p>
            <a:pPr marL="0" indent="0" algn="ctr">
              <a:lnSpc>
                <a:spcPct val="100000"/>
              </a:lnSpc>
              <a:buNone/>
            </a:pPr>
            <a:r>
              <a:rPr lang="en-US" sz="2050" dirty="0">
                <a:solidFill>
                  <a:srgbClr val="000000"/>
                </a:solidFill>
                <a:latin typeface="Playfair Display SemiBold" pitchFamily="34" charset="0"/>
                <a:ea typeface="Playfair Display SemiBold" pitchFamily="34" charset="-122"/>
                <a:cs typeface="Playfair Display SemiBold" pitchFamily="34" charset="-120"/>
              </a:rPr>
              <a:t>3</a:t>
            </a:r>
            <a:endParaRPr lang="en-US" sz="2050" dirty="0"/>
          </a:p>
        </p:txBody>
      </p:sp>
      <p:sp>
        <p:nvSpPr>
          <p:cNvPr id="16" name="Text 14"/>
          <p:cNvSpPr/>
          <p:nvPr/>
        </p:nvSpPr>
        <p:spPr>
          <a:xfrm>
            <a:off x="6883029" y="5160070"/>
            <a:ext cx="4653541" cy="276920"/>
          </a:xfrm>
          <a:prstGeom prst="rect">
            <a:avLst/>
          </a:prstGeom>
          <a:noFill/>
          <a:ln/>
        </p:spPr>
        <p:txBody>
          <a:bodyPr wrap="none" lIns="0" tIns="0" rIns="0" bIns="0" rtlCol="0" anchor="t"/>
          <a:lstStyle/>
          <a:p>
            <a:pPr marL="0" indent="0" algn="l">
              <a:lnSpc>
                <a:spcPct val="104000"/>
              </a:lnSpc>
              <a:buNone/>
            </a:pPr>
            <a:r>
              <a:rPr lang="en-US" sz="1700" dirty="0">
                <a:solidFill>
                  <a:srgbClr val="6F655D"/>
                </a:solidFill>
                <a:latin typeface="Playfair Display SemiBold" pitchFamily="34" charset="0"/>
                <a:ea typeface="Playfair Display SemiBold" pitchFamily="34" charset="-122"/>
                <a:cs typeface="Playfair Display SemiBold" pitchFamily="34" charset="-120"/>
              </a:rPr>
              <a:t>Finalize</a:t>
            </a:r>
            <a:endParaRPr lang="en-US" sz="1700" dirty="0"/>
          </a:p>
        </p:txBody>
      </p:sp>
      <p:sp>
        <p:nvSpPr>
          <p:cNvPr id="17" name="Text 15"/>
          <p:cNvSpPr/>
          <p:nvPr/>
        </p:nvSpPr>
        <p:spPr>
          <a:xfrm>
            <a:off x="6883029" y="5603081"/>
            <a:ext cx="4653541" cy="549275"/>
          </a:xfrm>
          <a:prstGeom prst="rect">
            <a:avLst/>
          </a:prstGeom>
          <a:noFill/>
          <a:ln/>
        </p:spPr>
        <p:txBody>
          <a:bodyPr wrap="square" lIns="0" tIns="0" rIns="0" bIns="0" rtlCol="0" anchor="t">
            <a:normAutofit/>
          </a:bodyPr>
          <a:lstStyle/>
          <a:p>
            <a:pPr marL="0" indent="0" algn="l">
              <a:lnSpc>
                <a:spcPct val="129000"/>
              </a:lnSpc>
              <a:buNone/>
            </a:pPr>
            <a:r>
              <a:rPr lang="en-US" sz="1350" dirty="0">
                <a:solidFill>
                  <a:srgbClr val="6F655D"/>
                </a:solidFill>
                <a:latin typeface="Public Sans" pitchFamily="34" charset="0"/>
                <a:ea typeface="Public Sans" pitchFamily="34" charset="-122"/>
                <a:cs typeface="Public Sans" pitchFamily="34" charset="-120"/>
              </a:rPr>
              <a:t>Call </a:t>
            </a:r>
            <a:r>
              <a:rPr lang="en-US" sz="1350" dirty="0">
                <a:solidFill>
                  <a:srgbClr val="6F655D"/>
                </a:solidFill>
                <a:highlight>
                  <a:srgbClr val="F2EDE9"/>
                </a:highlight>
                <a:latin typeface="Consolas" pitchFamily="34" charset="0"/>
                <a:ea typeface="Consolas" pitchFamily="34" charset="-122"/>
                <a:cs typeface="Consolas" pitchFamily="34" charset="-120"/>
              </a:rPr>
              <a:t>query.finalize()</a:t>
            </a:r>
            <a:r>
              <a:rPr lang="en-US" sz="1350" dirty="0">
                <a:solidFill>
                  <a:srgbClr val="6F655D"/>
                </a:solidFill>
                <a:latin typeface="Public Sans" pitchFamily="34" charset="0"/>
                <a:ea typeface="Public Sans" pitchFamily="34" charset="-122"/>
                <a:cs typeface="Public Sans" pitchFamily="34" charset="-120"/>
              </a:rPr>
              <a:t> to free the prepared statement from memory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541933"/>
            <a:ext cx="10868745" cy="470595"/>
          </a:xfrm>
          <a:prstGeom prst="rect">
            <a:avLst/>
          </a:prstGeom>
          <a:noFill/>
          <a:ln/>
        </p:spPr>
        <p:txBody>
          <a:bodyPr wrap="none" lIns="0" tIns="0" rIns="0" bIns="0" rtlCol="0" anchor="t"/>
          <a:lstStyle/>
          <a:p>
            <a:pPr marL="0" indent="0" algn="l">
              <a:lnSpc>
                <a:spcPct val="104000"/>
              </a:lnSpc>
              <a:buNone/>
            </a:pPr>
            <a:r>
              <a:rPr lang="en-US" sz="2950" dirty="0">
                <a:solidFill>
                  <a:srgbClr val="4B6981"/>
                </a:solidFill>
                <a:latin typeface="Playfair Display SemiBold" pitchFamily="34" charset="0"/>
                <a:ea typeface="Playfair Display SemiBold" pitchFamily="34" charset="-122"/>
                <a:cs typeface="Playfair Display SemiBold" pitchFamily="34" charset="-120"/>
              </a:rPr>
              <a:t>Step 8: Update home.js in Controllers</a:t>
            </a:r>
            <a:endParaRPr lang="en-US" sz="2950" dirty="0"/>
          </a:p>
        </p:txBody>
      </p:sp>
      <p:sp>
        <p:nvSpPr>
          <p:cNvPr id="3" name="Text 1"/>
          <p:cNvSpPr/>
          <p:nvPr/>
        </p:nvSpPr>
        <p:spPr>
          <a:xfrm>
            <a:off x="661475" y="1252538"/>
            <a:ext cx="11478330" cy="216495"/>
          </a:xfrm>
          <a:prstGeom prst="rect">
            <a:avLst/>
          </a:prstGeom>
          <a:noFill/>
          <a:ln/>
        </p:spPr>
        <p:txBody>
          <a:bodyPr wrap="none" lIns="0" tIns="0" rIns="0" bIns="0" rtlCol="0" anchor="t"/>
          <a:lstStyle/>
          <a:p>
            <a:pPr marL="0" indent="0" algn="l">
              <a:lnSpc>
                <a:spcPct val="120000"/>
              </a:lnSpc>
              <a:buNone/>
            </a:pPr>
            <a:r>
              <a:rPr lang="en-US" sz="1150" dirty="0">
                <a:solidFill>
                  <a:srgbClr val="6F655D"/>
                </a:solidFill>
                <a:latin typeface="Public Sans" pitchFamily="34" charset="0"/>
                <a:ea typeface="Public Sans" pitchFamily="34" charset="-122"/>
                <a:cs typeface="Public Sans" pitchFamily="34" charset="-120"/>
              </a:rPr>
              <a:t>Wire everything together by updating </a:t>
            </a:r>
            <a:r>
              <a:rPr lang="en-US" sz="1150" dirty="0">
                <a:solidFill>
                  <a:srgbClr val="6F655D"/>
                </a:solidFill>
                <a:highlight>
                  <a:srgbClr val="F2EDE9"/>
                </a:highlight>
                <a:latin typeface="Consolas" pitchFamily="34" charset="0"/>
                <a:ea typeface="Consolas" pitchFamily="34" charset="-122"/>
                <a:cs typeface="Consolas" pitchFamily="34" charset="-120"/>
              </a:rPr>
              <a:t>home.js</a:t>
            </a:r>
            <a:r>
              <a:rPr lang="en-US" sz="1150" dirty="0">
                <a:solidFill>
                  <a:srgbClr val="6F655D"/>
                </a:solidFill>
                <a:latin typeface="Public Sans" pitchFamily="34" charset="0"/>
                <a:ea typeface="Public Sans" pitchFamily="34" charset="-122"/>
                <a:cs typeface="Public Sans" pitchFamily="34" charset="-120"/>
              </a:rPr>
              <a:t> to call </a:t>
            </a:r>
            <a:r>
              <a:rPr lang="en-US" sz="1150" dirty="0">
                <a:solidFill>
                  <a:srgbClr val="6F655D"/>
                </a:solidFill>
                <a:highlight>
                  <a:srgbClr val="F2EDE9"/>
                </a:highlight>
                <a:latin typeface="Consolas" pitchFamily="34" charset="0"/>
                <a:ea typeface="Consolas" pitchFamily="34" charset="-122"/>
                <a:cs typeface="Consolas" pitchFamily="34" charset="-120"/>
              </a:rPr>
              <a:t>readStudents()</a:t>
            </a:r>
            <a:r>
              <a:rPr lang="en-US" sz="1150" dirty="0">
                <a:solidFill>
                  <a:srgbClr val="6F655D"/>
                </a:solidFill>
                <a:latin typeface="Public Sans" pitchFamily="34" charset="0"/>
                <a:ea typeface="Public Sans" pitchFamily="34" charset="-122"/>
                <a:cs typeface="Public Sans" pitchFamily="34" charset="-120"/>
              </a:rPr>
              <a:t> and render the data as an HTML table with Edit/Delete actions. Then start your server:</a:t>
            </a:r>
            <a:endParaRPr lang="en-US" sz="1150" dirty="0"/>
          </a:p>
        </p:txBody>
      </p:sp>
      <p:sp>
        <p:nvSpPr>
          <p:cNvPr id="4" name="Shape 2"/>
          <p:cNvSpPr/>
          <p:nvPr/>
        </p:nvSpPr>
        <p:spPr>
          <a:xfrm>
            <a:off x="661475" y="1613301"/>
            <a:ext cx="10868745" cy="2951162"/>
          </a:xfrm>
          <a:prstGeom prst="roundRect">
            <a:avLst>
              <a:gd name="adj" fmla="val 2144"/>
            </a:avLst>
          </a:prstGeom>
          <a:solidFill>
            <a:srgbClr val="F2EDE9"/>
          </a:solidFill>
          <a:ln/>
        </p:spPr>
        <p:txBody>
          <a:bodyPr/>
          <a:lstStyle/>
          <a:p>
            <a:endParaRPr lang="da-DK"/>
          </a:p>
        </p:txBody>
      </p:sp>
      <p:sp>
        <p:nvSpPr>
          <p:cNvPr id="5" name="Text 3"/>
          <p:cNvSpPr/>
          <p:nvPr/>
        </p:nvSpPr>
        <p:spPr>
          <a:xfrm>
            <a:off x="842148" y="1754584"/>
            <a:ext cx="10507400" cy="2649934"/>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6A737D"/>
                </a:solidFill>
                <a:latin typeface="Consolas" pitchFamily="34" charset="0"/>
                <a:ea typeface="Consolas" pitchFamily="34" charset="-122"/>
                <a:cs typeface="Consolas" pitchFamily="34" charset="-120"/>
              </a:rPr>
              <a:t>// Controller</a:t>
            </a:r>
            <a:endParaRPr lang="en-US" sz="1150" dirty="0"/>
          </a:p>
          <a:p>
            <a:pPr marL="0" indent="0" algn="l">
              <a:lnSpc>
                <a:spcPct val="133000"/>
              </a:lnSpc>
              <a:buNone/>
            </a:pPr>
            <a:r>
              <a:rPr lang="en-US" sz="1150" dirty="0">
                <a:solidFill>
                  <a:srgbClr val="6A737D"/>
                </a:solidFill>
                <a:latin typeface="Consolas" pitchFamily="34" charset="0"/>
                <a:ea typeface="Consolas" pitchFamily="34" charset="-122"/>
                <a:cs typeface="Consolas" pitchFamily="34" charset="-120"/>
              </a:rPr>
              <a:t>import render from "../render.js";</a:t>
            </a:r>
            <a:endParaRPr lang="en-US" sz="1150" dirty="0"/>
          </a:p>
          <a:p>
            <a:pPr marL="0" indent="0" algn="l">
              <a:lnSpc>
                <a:spcPct val="133000"/>
              </a:lnSpc>
              <a:buNone/>
            </a:pPr>
            <a:r>
              <a:rPr lang="en-US" sz="1150" dirty="0">
                <a:solidFill>
                  <a:srgbClr val="6A737D"/>
                </a:solidFill>
                <a:latin typeface="Consolas" pitchFamily="34" charset="0"/>
                <a:ea typeface="Consolas" pitchFamily="34" charset="-122"/>
                <a:cs typeface="Consolas" pitchFamily="34" charset="-120"/>
              </a:rPr>
              <a:t>import homeView from "../views/home.js";</a:t>
            </a:r>
            <a:endParaRPr lang="en-US" sz="1150" dirty="0"/>
          </a:p>
          <a:p>
            <a:pPr marL="0" indent="0" algn="l">
              <a:lnSpc>
                <a:spcPct val="133000"/>
              </a:lnSpc>
              <a:buNone/>
            </a:pPr>
            <a:r>
              <a:rPr lang="en-US" sz="1150" dirty="0">
                <a:solidFill>
                  <a:srgbClr val="6A737D"/>
                </a:solidFill>
                <a:latin typeface="Consolas" pitchFamily="34" charset="0"/>
                <a:ea typeface="Consolas" pitchFamily="34" charset="-122"/>
                <a:cs typeface="Consolas" pitchFamily="34" charset="-120"/>
              </a:rPr>
              <a:t>import readStudents from "../models/read.js";</a:t>
            </a:r>
            <a:endParaRPr lang="en-US" sz="1150" dirty="0"/>
          </a:p>
          <a:p>
            <a:pPr marL="0" indent="0" algn="l">
              <a:lnSpc>
                <a:spcPct val="133000"/>
              </a:lnSpc>
              <a:buNone/>
            </a:pPr>
            <a:endParaRPr lang="en-US" sz="1150" dirty="0"/>
          </a:p>
          <a:p>
            <a:pPr marL="0" indent="0" algn="l">
              <a:lnSpc>
                <a:spcPct val="133000"/>
              </a:lnSpc>
              <a:buNone/>
            </a:pPr>
            <a:r>
              <a:rPr lang="en-US" sz="1150" dirty="0">
                <a:solidFill>
                  <a:srgbClr val="6A737D"/>
                </a:solidFill>
                <a:latin typeface="Consolas" pitchFamily="34" charset="0"/>
                <a:ea typeface="Consolas" pitchFamily="34" charset="-122"/>
                <a:cs typeface="Consolas" pitchFamily="34" charset="-120"/>
              </a:rPr>
              <a:t>export default function </a:t>
            </a:r>
            <a:r>
              <a:rPr lang="en-US" sz="1150" dirty="0" err="1">
                <a:solidFill>
                  <a:srgbClr val="6A737D"/>
                </a:solidFill>
                <a:latin typeface="Consolas" pitchFamily="34" charset="0"/>
                <a:ea typeface="Consolas" pitchFamily="34" charset="-122"/>
                <a:cs typeface="Consolas" pitchFamily="34" charset="-120"/>
              </a:rPr>
              <a:t>homeController</a:t>
            </a:r>
            <a:r>
              <a:rPr lang="en-US" sz="1150" dirty="0">
                <a:solidFill>
                  <a:srgbClr val="6A737D"/>
                </a:solidFill>
                <a:latin typeface="Consolas" pitchFamily="34" charset="0"/>
                <a:ea typeface="Consolas" pitchFamily="34" charset="-122"/>
                <a:cs typeface="Consolas" pitchFamily="34" charset="-120"/>
              </a:rPr>
              <a:t>(request){</a:t>
            </a:r>
            <a:endParaRPr lang="en-US" sz="1150" dirty="0"/>
          </a:p>
          <a:p>
            <a:pPr marL="0" indent="0" algn="l">
              <a:lnSpc>
                <a:spcPct val="133000"/>
              </a:lnSpc>
              <a:buNone/>
            </a:pPr>
            <a:endParaRPr lang="en-US" sz="1150" dirty="0"/>
          </a:p>
          <a:p>
            <a:pPr marL="0" indent="0" algn="l">
              <a:lnSpc>
                <a:spcPct val="133000"/>
              </a:lnSpc>
              <a:buNone/>
            </a:pPr>
            <a:r>
              <a:rPr lang="en-US" sz="1150" dirty="0">
                <a:solidFill>
                  <a:srgbClr val="6A737D"/>
                </a:solidFill>
                <a:latin typeface="Consolas" pitchFamily="34" charset="0"/>
                <a:ea typeface="Consolas" pitchFamily="34" charset="-122"/>
                <a:cs typeface="Consolas" pitchFamily="34" charset="-120"/>
              </a:rPr>
              <a:t>    const students = readStudents();</a:t>
            </a:r>
            <a:endParaRPr lang="en-US" sz="1150" dirty="0"/>
          </a:p>
          <a:p>
            <a:pPr marL="0" indent="0" algn="l">
              <a:lnSpc>
                <a:spcPct val="133000"/>
              </a:lnSpc>
              <a:buNone/>
            </a:pPr>
            <a:endParaRPr lang="en-US" sz="1150" dirty="0"/>
          </a:p>
          <a:p>
            <a:pPr marL="0" indent="0" algn="l">
              <a:lnSpc>
                <a:spcPct val="133000"/>
              </a:lnSpc>
              <a:buNone/>
            </a:pPr>
            <a:r>
              <a:rPr lang="en-US" sz="1150" dirty="0">
                <a:solidFill>
                  <a:srgbClr val="6A737D"/>
                </a:solidFill>
                <a:latin typeface="Consolas" pitchFamily="34" charset="0"/>
                <a:ea typeface="Consolas" pitchFamily="34" charset="-122"/>
                <a:cs typeface="Consolas" pitchFamily="34" charset="-120"/>
              </a:rPr>
              <a:t>    return render(()=&gt;homeView(students))</a:t>
            </a:r>
            <a:endParaRPr lang="en-US" sz="1150" dirty="0"/>
          </a:p>
          <a:p>
            <a:pPr marL="0" indent="0" algn="l">
              <a:lnSpc>
                <a:spcPct val="133000"/>
              </a:lnSpc>
              <a:buNone/>
            </a:pPr>
            <a:r>
              <a:rPr lang="en-US" sz="1150" dirty="0">
                <a:solidFill>
                  <a:srgbClr val="6A737D"/>
                </a:solidFill>
                <a:latin typeface="Consolas" pitchFamily="34" charset="0"/>
                <a:ea typeface="Consolas" pitchFamily="34" charset="-122"/>
                <a:cs typeface="Consolas" pitchFamily="34" charset="-120"/>
              </a:rPr>
              <a:t>}</a:t>
            </a:r>
            <a:endParaRPr lang="en-US" sz="1150" dirty="0"/>
          </a:p>
        </p:txBody>
      </p:sp>
      <p:sp>
        <p:nvSpPr>
          <p:cNvPr id="6" name="Shape 4"/>
          <p:cNvSpPr/>
          <p:nvPr/>
        </p:nvSpPr>
        <p:spPr>
          <a:xfrm>
            <a:off x="661475" y="4690070"/>
            <a:ext cx="3542914" cy="1625997"/>
          </a:xfrm>
          <a:prstGeom prst="roundRect">
            <a:avLst>
              <a:gd name="adj" fmla="val 3891"/>
            </a:avLst>
          </a:prstGeom>
          <a:solidFill>
            <a:srgbClr val="F0DEDC"/>
          </a:solidFill>
          <a:ln w="6350">
            <a:solidFill>
              <a:srgbClr val="E1C2C2"/>
            </a:solidFill>
            <a:prstDash val="solid"/>
          </a:ln>
          <a:effectLst>
            <a:outerShdw blurRad="127" dist="19050" dir="2700000" algn="bl" rotWithShape="0">
              <a:srgbClr val="E1C2C2">
                <a:alpha val="100000"/>
              </a:srgbClr>
            </a:outerShdw>
          </a:effectLst>
        </p:spPr>
        <p:txBody>
          <a:bodyPr/>
          <a:lstStyle/>
          <a:p>
            <a:endParaRPr lang="da-DK"/>
          </a:p>
        </p:txBody>
      </p:sp>
      <p:sp>
        <p:nvSpPr>
          <p:cNvPr id="7" name="Shape 5"/>
          <p:cNvSpPr/>
          <p:nvPr/>
        </p:nvSpPr>
        <p:spPr>
          <a:xfrm>
            <a:off x="818435" y="4847034"/>
            <a:ext cx="451831" cy="451842"/>
          </a:xfrm>
          <a:prstGeom prst="ellipse">
            <a:avLst/>
          </a:prstGeom>
          <a:solidFill>
            <a:srgbClr val="E1C2C2"/>
          </a:solidFill>
          <a:ln/>
        </p:spPr>
        <p:txBody>
          <a:bodyPr/>
          <a:lstStyle/>
          <a:p>
            <a:endParaRPr lang="da-DK"/>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42654" y="4971256"/>
            <a:ext cx="203294" cy="203299"/>
          </a:xfrm>
          <a:prstGeom prst="rect">
            <a:avLst/>
          </a:prstGeom>
        </p:spPr>
      </p:pic>
      <p:sp>
        <p:nvSpPr>
          <p:cNvPr id="9" name="Text 6"/>
          <p:cNvSpPr/>
          <p:nvPr/>
        </p:nvSpPr>
        <p:spPr>
          <a:xfrm>
            <a:off x="818435" y="5418832"/>
            <a:ext cx="3228993" cy="235347"/>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Playfair Display SemiBold" pitchFamily="34" charset="0"/>
                <a:ea typeface="Playfair Display SemiBold" pitchFamily="34" charset="-122"/>
                <a:cs typeface="Playfair Display SemiBold" pitchFamily="34" charset="-120"/>
              </a:rPr>
              <a:t>Controller</a:t>
            </a:r>
            <a:endParaRPr lang="en-US" sz="1450" dirty="0"/>
          </a:p>
        </p:txBody>
      </p:sp>
      <p:sp>
        <p:nvSpPr>
          <p:cNvPr id="10" name="Text 7"/>
          <p:cNvSpPr/>
          <p:nvPr/>
        </p:nvSpPr>
        <p:spPr>
          <a:xfrm>
            <a:off x="818435" y="5726113"/>
            <a:ext cx="3228993" cy="432991"/>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000000"/>
                </a:solidFill>
                <a:latin typeface="Public Sans" pitchFamily="34" charset="0"/>
                <a:ea typeface="Public Sans" pitchFamily="34" charset="-122"/>
                <a:cs typeface="Public Sans" pitchFamily="34" charset="-120"/>
              </a:rPr>
              <a:t>Call </a:t>
            </a:r>
            <a:r>
              <a:rPr lang="en-US" sz="1150" dirty="0">
                <a:solidFill>
                  <a:srgbClr val="000000"/>
                </a:solidFill>
                <a:highlight>
                  <a:srgbClr val="F2EDE9"/>
                </a:highlight>
                <a:latin typeface="Consolas" pitchFamily="34" charset="0"/>
                <a:ea typeface="Consolas" pitchFamily="34" charset="-122"/>
                <a:cs typeface="Consolas" pitchFamily="34" charset="-120"/>
              </a:rPr>
              <a:t>readStudents()</a:t>
            </a:r>
            <a:r>
              <a:rPr lang="en-US" sz="1150" dirty="0">
                <a:solidFill>
                  <a:srgbClr val="000000"/>
                </a:solidFill>
                <a:latin typeface="Public Sans" pitchFamily="34" charset="0"/>
                <a:ea typeface="Public Sans" pitchFamily="34" charset="-122"/>
                <a:cs typeface="Public Sans" pitchFamily="34" charset="-120"/>
              </a:rPr>
              <a:t> and pass the result into the view renderer</a:t>
            </a:r>
            <a:endParaRPr lang="en-US" sz="1150" dirty="0"/>
          </a:p>
        </p:txBody>
      </p:sp>
      <p:sp>
        <p:nvSpPr>
          <p:cNvPr id="11" name="Shape 8"/>
          <p:cNvSpPr/>
          <p:nvPr/>
        </p:nvSpPr>
        <p:spPr>
          <a:xfrm>
            <a:off x="4324341" y="4690070"/>
            <a:ext cx="3542914" cy="1625997"/>
          </a:xfrm>
          <a:prstGeom prst="roundRect">
            <a:avLst>
              <a:gd name="adj" fmla="val 3891"/>
            </a:avLst>
          </a:prstGeom>
          <a:solidFill>
            <a:srgbClr val="F0DEDC"/>
          </a:solidFill>
          <a:ln w="6350">
            <a:solidFill>
              <a:srgbClr val="CCC4EC"/>
            </a:solidFill>
            <a:prstDash val="solid"/>
          </a:ln>
          <a:effectLst>
            <a:outerShdw blurRad="127" dist="19050" dir="2700000" algn="bl" rotWithShape="0">
              <a:srgbClr val="CCC4EC">
                <a:alpha val="100000"/>
              </a:srgbClr>
            </a:outerShdw>
          </a:effectLst>
        </p:spPr>
        <p:txBody>
          <a:bodyPr/>
          <a:lstStyle/>
          <a:p>
            <a:endParaRPr lang="da-DK"/>
          </a:p>
        </p:txBody>
      </p:sp>
      <p:sp>
        <p:nvSpPr>
          <p:cNvPr id="12" name="Shape 9"/>
          <p:cNvSpPr/>
          <p:nvPr/>
        </p:nvSpPr>
        <p:spPr>
          <a:xfrm>
            <a:off x="4481301" y="4847034"/>
            <a:ext cx="451831" cy="451842"/>
          </a:xfrm>
          <a:prstGeom prst="ellipse">
            <a:avLst/>
          </a:prstGeom>
          <a:solidFill>
            <a:srgbClr val="CCC4EC"/>
          </a:solidFill>
          <a:ln/>
        </p:spPr>
        <p:txBody>
          <a:bodyPr/>
          <a:lstStyle/>
          <a:p>
            <a:endParaRPr lang="da-DK"/>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05520" y="4971256"/>
            <a:ext cx="203294" cy="203299"/>
          </a:xfrm>
          <a:prstGeom prst="rect">
            <a:avLst/>
          </a:prstGeom>
        </p:spPr>
      </p:pic>
      <p:sp>
        <p:nvSpPr>
          <p:cNvPr id="14" name="Text 10"/>
          <p:cNvSpPr/>
          <p:nvPr/>
        </p:nvSpPr>
        <p:spPr>
          <a:xfrm>
            <a:off x="4481301" y="5418832"/>
            <a:ext cx="3228993" cy="235347"/>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Playfair Display SemiBold" pitchFamily="34" charset="0"/>
                <a:ea typeface="Playfair Display SemiBold" pitchFamily="34" charset="-122"/>
                <a:cs typeface="Playfair Display SemiBold" pitchFamily="34" charset="-120"/>
              </a:rPr>
              <a:t>View</a:t>
            </a:r>
            <a:endParaRPr lang="en-US" sz="1450" dirty="0"/>
          </a:p>
        </p:txBody>
      </p:sp>
      <p:sp>
        <p:nvSpPr>
          <p:cNvPr id="15" name="Text 11"/>
          <p:cNvSpPr/>
          <p:nvPr/>
        </p:nvSpPr>
        <p:spPr>
          <a:xfrm>
            <a:off x="4481301" y="5726113"/>
            <a:ext cx="3228993" cy="432991"/>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000000"/>
                </a:solidFill>
                <a:latin typeface="Public Sans" pitchFamily="34" charset="0"/>
                <a:ea typeface="Public Sans" pitchFamily="34" charset="-122"/>
                <a:cs typeface="Public Sans" pitchFamily="34" charset="-120"/>
              </a:rPr>
              <a:t>Map each student to an HTML table row with Edit and Delete action links</a:t>
            </a:r>
            <a:endParaRPr lang="en-US" sz="1150" dirty="0"/>
          </a:p>
        </p:txBody>
      </p:sp>
      <p:sp>
        <p:nvSpPr>
          <p:cNvPr id="16" name="Shape 12"/>
          <p:cNvSpPr/>
          <p:nvPr/>
        </p:nvSpPr>
        <p:spPr>
          <a:xfrm>
            <a:off x="7987207" y="4690070"/>
            <a:ext cx="3543013" cy="1625997"/>
          </a:xfrm>
          <a:prstGeom prst="roundRect">
            <a:avLst>
              <a:gd name="adj" fmla="val 3891"/>
            </a:avLst>
          </a:prstGeom>
          <a:solidFill>
            <a:srgbClr val="F0DEDC"/>
          </a:solidFill>
          <a:ln w="6350">
            <a:solidFill>
              <a:srgbClr val="B4DAE4"/>
            </a:solidFill>
            <a:prstDash val="solid"/>
          </a:ln>
          <a:effectLst>
            <a:outerShdw blurRad="127" dist="19050" dir="2700000" algn="bl" rotWithShape="0">
              <a:srgbClr val="B4DAE4">
                <a:alpha val="100000"/>
              </a:srgbClr>
            </a:outerShdw>
          </a:effectLst>
        </p:spPr>
        <p:txBody>
          <a:bodyPr/>
          <a:lstStyle/>
          <a:p>
            <a:endParaRPr lang="da-DK"/>
          </a:p>
        </p:txBody>
      </p:sp>
      <p:sp>
        <p:nvSpPr>
          <p:cNvPr id="17" name="Shape 13"/>
          <p:cNvSpPr/>
          <p:nvPr/>
        </p:nvSpPr>
        <p:spPr>
          <a:xfrm>
            <a:off x="8144167" y="4847034"/>
            <a:ext cx="451831" cy="451842"/>
          </a:xfrm>
          <a:prstGeom prst="ellipse">
            <a:avLst/>
          </a:prstGeom>
          <a:solidFill>
            <a:srgbClr val="B4DAE4"/>
          </a:solidFill>
          <a:ln/>
        </p:spPr>
        <p:txBody>
          <a:bodyPr/>
          <a:lstStyle/>
          <a:p>
            <a:endParaRPr lang="da-DK"/>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268386" y="4971256"/>
            <a:ext cx="203294" cy="203299"/>
          </a:xfrm>
          <a:prstGeom prst="rect">
            <a:avLst/>
          </a:prstGeom>
        </p:spPr>
      </p:pic>
      <p:sp>
        <p:nvSpPr>
          <p:cNvPr id="19" name="Text 14"/>
          <p:cNvSpPr/>
          <p:nvPr/>
        </p:nvSpPr>
        <p:spPr>
          <a:xfrm>
            <a:off x="8144167" y="5418832"/>
            <a:ext cx="3229093" cy="235347"/>
          </a:xfrm>
          <a:prstGeom prst="rect">
            <a:avLst/>
          </a:prstGeom>
          <a:noFill/>
          <a:ln/>
        </p:spPr>
        <p:txBody>
          <a:bodyPr wrap="none" lIns="0" tIns="0" rIns="0" bIns="0" rtlCol="0" anchor="t"/>
          <a:lstStyle/>
          <a:p>
            <a:pPr marL="0" indent="0" algn="l">
              <a:lnSpc>
                <a:spcPct val="104000"/>
              </a:lnSpc>
              <a:buNone/>
            </a:pPr>
            <a:r>
              <a:rPr lang="en-US" sz="1450" dirty="0">
                <a:solidFill>
                  <a:srgbClr val="000000"/>
                </a:solidFill>
                <a:latin typeface="Playfair Display SemiBold" pitchFamily="34" charset="0"/>
                <a:ea typeface="Playfair Display SemiBold" pitchFamily="34" charset="-122"/>
                <a:cs typeface="Playfair Display SemiBold" pitchFamily="34" charset="-120"/>
              </a:rPr>
              <a:t>Run</a:t>
            </a:r>
            <a:endParaRPr lang="en-US" sz="1450" dirty="0"/>
          </a:p>
        </p:txBody>
      </p:sp>
      <p:sp>
        <p:nvSpPr>
          <p:cNvPr id="20" name="Text 15"/>
          <p:cNvSpPr/>
          <p:nvPr/>
        </p:nvSpPr>
        <p:spPr>
          <a:xfrm>
            <a:off x="8144167" y="5726113"/>
            <a:ext cx="3229093" cy="432991"/>
          </a:xfrm>
          <a:prstGeom prst="rect">
            <a:avLst/>
          </a:prstGeom>
          <a:noFill/>
          <a:ln/>
        </p:spPr>
        <p:txBody>
          <a:bodyPr wrap="square" lIns="0" tIns="0" rIns="0" bIns="0" rtlCol="0" anchor="t">
            <a:normAutofit/>
          </a:bodyPr>
          <a:lstStyle/>
          <a:p>
            <a:pPr marL="0" indent="0" algn="l">
              <a:lnSpc>
                <a:spcPct val="120000"/>
              </a:lnSpc>
              <a:buNone/>
            </a:pPr>
            <a:r>
              <a:rPr lang="en-US" sz="1150" dirty="0">
                <a:solidFill>
                  <a:srgbClr val="000000"/>
                </a:solidFill>
                <a:latin typeface="Public Sans" pitchFamily="34" charset="0"/>
                <a:ea typeface="Public Sans" pitchFamily="34" charset="-122"/>
                <a:cs typeface="Public Sans" pitchFamily="34" charset="-120"/>
              </a:rPr>
              <a:t>Start the server with </a:t>
            </a:r>
            <a:r>
              <a:rPr lang="en-US" sz="1150" dirty="0">
                <a:solidFill>
                  <a:srgbClr val="000000"/>
                </a:solidFill>
                <a:highlight>
                  <a:srgbClr val="F2EDE9"/>
                </a:highlight>
                <a:latin typeface="Consolas" pitchFamily="34" charset="0"/>
                <a:ea typeface="Consolas" pitchFamily="34" charset="-122"/>
                <a:cs typeface="Consolas" pitchFamily="34" charset="-120"/>
              </a:rPr>
              <a:t>deno --watch --allow-all main.js</a:t>
            </a:r>
            <a:r>
              <a:rPr lang="en-US" sz="1150" dirty="0">
                <a:solidFill>
                  <a:srgbClr val="000000"/>
                </a:solidFill>
                <a:latin typeface="Public Sans" pitchFamily="34" charset="0"/>
                <a:ea typeface="Public Sans" pitchFamily="34" charset="-122"/>
                <a:cs typeface="Public Sans" pitchFamily="34" charset="-120"/>
              </a:rPr>
              <a:t> and visit your home page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519807"/>
            <a:ext cx="10868745" cy="327025"/>
          </a:xfrm>
          <a:prstGeom prst="rect">
            <a:avLst/>
          </a:prstGeom>
          <a:noFill/>
          <a:ln/>
        </p:spPr>
        <p:txBody>
          <a:bodyPr wrap="none" lIns="0" tIns="0" rIns="0" bIns="0" rtlCol="0" anchor="t"/>
          <a:lstStyle/>
          <a:p>
            <a:pPr marL="0" indent="0" algn="l">
              <a:lnSpc>
                <a:spcPct val="104000"/>
              </a:lnSpc>
              <a:buNone/>
            </a:pPr>
            <a:r>
              <a:rPr lang="en-US" sz="1850" dirty="0">
                <a:solidFill>
                  <a:srgbClr val="4B6981"/>
                </a:solidFill>
                <a:latin typeface="Playfair Display SemiBold" pitchFamily="34" charset="0"/>
                <a:ea typeface="Playfair Display SemiBold" pitchFamily="34" charset="-122"/>
                <a:cs typeface="Playfair Display SemiBold" pitchFamily="34" charset="-120"/>
              </a:rPr>
              <a:t>Step 9: Update </a:t>
            </a:r>
            <a:r>
              <a:rPr lang="en-US" sz="1850" dirty="0">
                <a:solidFill>
                  <a:srgbClr val="6F655D"/>
                </a:solidFill>
                <a:highlight>
                  <a:srgbClr val="F2EDE9"/>
                </a:highlight>
                <a:latin typeface="Consolas" pitchFamily="34" charset="0"/>
                <a:ea typeface="Consolas" pitchFamily="34" charset="-122"/>
                <a:cs typeface="Consolas" pitchFamily="34" charset="-120"/>
              </a:rPr>
              <a:t>home.js</a:t>
            </a:r>
            <a:r>
              <a:rPr lang="en-US" sz="1850" dirty="0">
                <a:solidFill>
                  <a:srgbClr val="4B6981"/>
                </a:solidFill>
                <a:latin typeface="Playfair Display SemiBold" pitchFamily="34" charset="0"/>
                <a:ea typeface="Playfair Display SemiBold" pitchFamily="34" charset="-122"/>
                <a:cs typeface="Playfair Display SemiBold" pitchFamily="34" charset="-120"/>
              </a:rPr>
              <a:t>  in views</a:t>
            </a:r>
            <a:endParaRPr lang="en-US" sz="1850" dirty="0"/>
          </a:p>
        </p:txBody>
      </p:sp>
      <p:sp>
        <p:nvSpPr>
          <p:cNvPr id="3" name="Text 1"/>
          <p:cNvSpPr/>
          <p:nvPr/>
        </p:nvSpPr>
        <p:spPr>
          <a:xfrm>
            <a:off x="661475" y="941288"/>
            <a:ext cx="11478330" cy="113407"/>
          </a:xfrm>
          <a:prstGeom prst="rect">
            <a:avLst/>
          </a:prstGeom>
          <a:noFill/>
          <a:ln/>
        </p:spPr>
        <p:txBody>
          <a:bodyPr wrap="none" lIns="0" tIns="0" rIns="0" bIns="0" rtlCol="0" anchor="t"/>
          <a:lstStyle/>
          <a:p>
            <a:pPr marL="0" indent="0" algn="l">
              <a:lnSpc>
                <a:spcPct val="100000"/>
              </a:lnSpc>
              <a:buNone/>
            </a:pPr>
            <a:r>
              <a:rPr lang="en-US" sz="700" dirty="0">
                <a:solidFill>
                  <a:srgbClr val="6F655D"/>
                </a:solidFill>
                <a:latin typeface="Public Sans" pitchFamily="34" charset="0"/>
                <a:ea typeface="Public Sans" pitchFamily="34" charset="-122"/>
                <a:cs typeface="Public Sans" pitchFamily="34" charset="-120"/>
              </a:rPr>
              <a:t>The </a:t>
            </a:r>
            <a:r>
              <a:rPr lang="en-US" sz="700" dirty="0">
                <a:solidFill>
                  <a:srgbClr val="6F655D"/>
                </a:solidFill>
                <a:highlight>
                  <a:srgbClr val="F2EDE9"/>
                </a:highlight>
                <a:latin typeface="Consolas" pitchFamily="34" charset="0"/>
                <a:ea typeface="Consolas" pitchFamily="34" charset="-122"/>
                <a:cs typeface="Consolas" pitchFamily="34" charset="-120"/>
              </a:rPr>
              <a:t>home.js</a:t>
            </a:r>
            <a:r>
              <a:rPr lang="en-US" sz="700" dirty="0">
                <a:solidFill>
                  <a:srgbClr val="6F655D"/>
                </a:solidFill>
                <a:latin typeface="Public Sans" pitchFamily="34" charset="0"/>
                <a:ea typeface="Public Sans" pitchFamily="34" charset="-122"/>
                <a:cs typeface="Public Sans" pitchFamily="34" charset="-120"/>
              </a:rPr>
              <a:t> view is responsible for taking the student data and rendering it into a well-structured HTML table, complete with action links for editing and deleting records. Below is the full view code, followed by a breakdown of its key components.</a:t>
            </a:r>
            <a:endParaRPr lang="en-US" sz="700" dirty="0"/>
          </a:p>
        </p:txBody>
      </p:sp>
      <p:sp>
        <p:nvSpPr>
          <p:cNvPr id="4" name="Shape 2"/>
          <p:cNvSpPr/>
          <p:nvPr/>
        </p:nvSpPr>
        <p:spPr>
          <a:xfrm>
            <a:off x="661475" y="1107777"/>
            <a:ext cx="10868745" cy="5027613"/>
          </a:xfrm>
          <a:prstGeom prst="roundRect">
            <a:avLst>
              <a:gd name="adj" fmla="val 790"/>
            </a:avLst>
          </a:prstGeom>
          <a:solidFill>
            <a:srgbClr val="F2EDE9"/>
          </a:solidFill>
          <a:ln/>
        </p:spPr>
        <p:txBody>
          <a:bodyPr/>
          <a:lstStyle/>
          <a:p>
            <a:endParaRPr lang="da-DK"/>
          </a:p>
        </p:txBody>
      </p:sp>
      <p:sp>
        <p:nvSpPr>
          <p:cNvPr id="5" name="Text 3"/>
          <p:cNvSpPr/>
          <p:nvPr/>
        </p:nvSpPr>
        <p:spPr>
          <a:xfrm>
            <a:off x="774879" y="1202234"/>
            <a:ext cx="10641937" cy="4838700"/>
          </a:xfrm>
          <a:prstGeom prst="rect">
            <a:avLst/>
          </a:prstGeom>
          <a:noFill/>
          <a:ln/>
        </p:spPr>
        <p:txBody>
          <a:bodyPr wrap="square" lIns="0" tIns="0" rIns="0" bIns="0" rtlCol="0" anchor="t">
            <a:normAutofit/>
          </a:bodyPr>
          <a:lstStyle/>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View (app/views/home.js)</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export default function homeView(students) {</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const rows = students.map(student =&gt;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`&lt;tr&gt;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&lt;td&gt;${student.id}&lt;/td&gt;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&lt;td&gt;${student.name}&lt;/td&gt;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&lt;td&gt;${student.phone}&lt;/td&gt;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&lt;td&gt;${student.email}&lt;/td&gt;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&lt;td&gt;${student.program}&lt;/td&gt;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&lt;td&gt;${student.country}&lt;/td&gt;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&lt;td&gt;&lt;a </a:t>
            </a:r>
            <a:r>
              <a:rPr lang="en-US" sz="700" dirty="0" err="1">
                <a:solidFill>
                  <a:srgbClr val="24292E"/>
                </a:solidFill>
                <a:latin typeface="Consolas" pitchFamily="34" charset="0"/>
                <a:ea typeface="Consolas" pitchFamily="34" charset="-122"/>
                <a:cs typeface="Consolas" pitchFamily="34" charset="-120"/>
              </a:rPr>
              <a:t>href</a:t>
            </a:r>
            <a:r>
              <a:rPr lang="en-US" sz="700" dirty="0">
                <a:solidFill>
                  <a:srgbClr val="24292E"/>
                </a:solidFill>
                <a:latin typeface="Consolas" pitchFamily="34" charset="0"/>
                <a:ea typeface="Consolas" pitchFamily="34" charset="-122"/>
                <a:cs typeface="Consolas" pitchFamily="34" charset="-120"/>
              </a:rPr>
              <a:t>="/</a:t>
            </a:r>
            <a:r>
              <a:rPr lang="en-US" sz="700" dirty="0" err="1">
                <a:solidFill>
                  <a:srgbClr val="24292E"/>
                </a:solidFill>
                <a:latin typeface="Consolas" pitchFamily="34" charset="0"/>
                <a:ea typeface="Consolas" pitchFamily="34" charset="-122"/>
                <a:cs typeface="Consolas" pitchFamily="34" charset="-120"/>
              </a:rPr>
              <a:t>update?id</a:t>
            </a:r>
            <a:r>
              <a:rPr lang="en-US" sz="700" dirty="0">
                <a:solidFill>
                  <a:srgbClr val="24292E"/>
                </a:solidFill>
                <a:latin typeface="Consolas" pitchFamily="34" charset="0"/>
                <a:ea typeface="Consolas" pitchFamily="34" charset="-122"/>
                <a:cs typeface="Consolas" pitchFamily="34" charset="-120"/>
              </a:rPr>
              <a:t>=${student.id}"&gt;Edit&lt;/a&gt;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&lt;a href="/</a:t>
            </a:r>
            <a:r>
              <a:rPr lang="en-US" sz="700" dirty="0" err="1">
                <a:solidFill>
                  <a:srgbClr val="24292E"/>
                </a:solidFill>
                <a:latin typeface="Consolas" pitchFamily="34" charset="0"/>
                <a:ea typeface="Consolas" pitchFamily="34" charset="-122"/>
                <a:cs typeface="Consolas" pitchFamily="34" charset="-120"/>
              </a:rPr>
              <a:t>delete?id</a:t>
            </a:r>
            <a:r>
              <a:rPr lang="en-US" sz="700" dirty="0">
                <a:solidFill>
                  <a:srgbClr val="24292E"/>
                </a:solidFill>
                <a:latin typeface="Consolas" pitchFamily="34" charset="0"/>
                <a:ea typeface="Consolas" pitchFamily="34" charset="-122"/>
                <a:cs typeface="Consolas" pitchFamily="34" charset="-120"/>
              </a:rPr>
              <a:t>=${student.id}"&gt;Delete&lt;/a&gt;&lt;/td&gt;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&lt;/tr&gt;`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).join('');</a:t>
            </a:r>
            <a:endParaRPr lang="en-US" sz="700" dirty="0"/>
          </a:p>
          <a:p>
            <a:pPr marL="0" indent="0" algn="l">
              <a:lnSpc>
                <a:spcPct val="133000"/>
              </a:lnSpc>
              <a:buNone/>
            </a:pP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return `&lt;table&gt;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&lt;thead&gt;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&lt;tr&gt;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&lt;th&gt;ID&lt;/th&gt;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&lt;th&gt;Name&lt;/th&gt;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&lt;th&gt;Phone&lt;/th&gt;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&lt;th&gt;Email&lt;/th&gt;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&lt;th&gt;Program&lt;/th&gt;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&lt;th&gt;Country&lt;/th&gt;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&lt;th&gt;Actions&lt;/th&gt;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&lt;/tr&gt;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&lt;/thead&gt;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&lt;tbody&gt;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${rows}</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&lt;/tbody&gt;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  &lt;/table&gt;`;</a:t>
            </a:r>
            <a:endParaRPr lang="en-US" sz="700" dirty="0"/>
          </a:p>
          <a:p>
            <a:pPr marL="0" indent="0" algn="l">
              <a:lnSpc>
                <a:spcPct val="133000"/>
              </a:lnSpc>
              <a:buNone/>
            </a:pPr>
            <a:r>
              <a:rPr lang="en-US" sz="700" dirty="0">
                <a:solidFill>
                  <a:srgbClr val="24292E"/>
                </a:solidFill>
                <a:latin typeface="Consolas" pitchFamily="34" charset="0"/>
                <a:ea typeface="Consolas" pitchFamily="34" charset="-122"/>
                <a:cs typeface="Consolas" pitchFamily="34" charset="-120"/>
              </a:rPr>
              <a:t>}</a:t>
            </a:r>
            <a:endParaRPr lang="en-US" sz="700" dirty="0"/>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6188472"/>
            <a:ext cx="3591430" cy="730448"/>
          </a:xfrm>
          <a:prstGeom prst="rect">
            <a:avLst/>
          </a:prstGeom>
        </p:spPr>
      </p:pic>
      <p:sp>
        <p:nvSpPr>
          <p:cNvPr id="7" name="Text 4"/>
          <p:cNvSpPr/>
          <p:nvPr/>
        </p:nvSpPr>
        <p:spPr>
          <a:xfrm>
            <a:off x="819427" y="6295628"/>
            <a:ext cx="3326325" cy="147638"/>
          </a:xfrm>
          <a:prstGeom prst="rect">
            <a:avLst/>
          </a:prstGeom>
          <a:noFill/>
          <a:ln/>
        </p:spPr>
        <p:txBody>
          <a:bodyPr wrap="none" lIns="0" tIns="0" rIns="0" bIns="0" rtlCol="0" anchor="t"/>
          <a:lstStyle/>
          <a:p>
            <a:pPr marL="0" indent="0" algn="l">
              <a:lnSpc>
                <a:spcPct val="104000"/>
              </a:lnSpc>
              <a:buNone/>
            </a:pPr>
            <a:r>
              <a:rPr lang="en-US" sz="900" dirty="0">
                <a:solidFill>
                  <a:srgbClr val="6F655D"/>
                </a:solidFill>
                <a:latin typeface="Playfair Display SemiBold" pitchFamily="34" charset="0"/>
                <a:ea typeface="Playfair Display SemiBold" pitchFamily="34" charset="-122"/>
                <a:cs typeface="Playfair Display SemiBold" pitchFamily="34" charset="-120"/>
              </a:rPr>
              <a:t>Dynamic Rows</a:t>
            </a:r>
            <a:endParaRPr lang="en-US" sz="900" dirty="0"/>
          </a:p>
        </p:txBody>
      </p:sp>
      <p:sp>
        <p:nvSpPr>
          <p:cNvPr id="8" name="Text 5"/>
          <p:cNvSpPr/>
          <p:nvPr/>
        </p:nvSpPr>
        <p:spPr>
          <a:xfrm>
            <a:off x="819427" y="6471543"/>
            <a:ext cx="3326325" cy="226814"/>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6F655D"/>
                </a:solidFill>
                <a:latin typeface="Public Sans" pitchFamily="34" charset="0"/>
                <a:ea typeface="Public Sans" pitchFamily="34" charset="-122"/>
                <a:cs typeface="Public Sans" pitchFamily="34" charset="-120"/>
              </a:rPr>
              <a:t>The </a:t>
            </a:r>
            <a:r>
              <a:rPr lang="en-US" sz="700" dirty="0">
                <a:solidFill>
                  <a:srgbClr val="6F655D"/>
                </a:solidFill>
                <a:highlight>
                  <a:srgbClr val="F2EDE9"/>
                </a:highlight>
                <a:latin typeface="Consolas" pitchFamily="34" charset="0"/>
                <a:ea typeface="Consolas" pitchFamily="34" charset="-122"/>
                <a:cs typeface="Consolas" pitchFamily="34" charset="-120"/>
              </a:rPr>
              <a:t>students.map()</a:t>
            </a:r>
            <a:r>
              <a:rPr lang="en-US" sz="700" dirty="0">
                <a:solidFill>
                  <a:srgbClr val="6F655D"/>
                </a:solidFill>
                <a:latin typeface="Public Sans" pitchFamily="34" charset="0"/>
                <a:ea typeface="Public Sans" pitchFamily="34" charset="-122"/>
                <a:cs typeface="Public Sans" pitchFamily="34" charset="-120"/>
              </a:rPr>
              <a:t> function iterates over each student record to generate an HTML </a:t>
            </a:r>
            <a:r>
              <a:rPr lang="en-US" sz="700" dirty="0">
                <a:solidFill>
                  <a:srgbClr val="6F655D"/>
                </a:solidFill>
                <a:highlight>
                  <a:srgbClr val="F2EDE9"/>
                </a:highlight>
                <a:latin typeface="Consolas" pitchFamily="34" charset="0"/>
                <a:ea typeface="Consolas" pitchFamily="34" charset="-122"/>
                <a:cs typeface="Consolas" pitchFamily="34" charset="-120"/>
              </a:rPr>
              <a:t>&lt;tr&gt;</a:t>
            </a:r>
            <a:r>
              <a:rPr lang="en-US" sz="700" dirty="0">
                <a:solidFill>
                  <a:srgbClr val="6F655D"/>
                </a:solidFill>
                <a:latin typeface="Public Sans" pitchFamily="34" charset="0"/>
                <a:ea typeface="Public Sans" pitchFamily="34" charset="-122"/>
                <a:cs typeface="Public Sans" pitchFamily="34" charset="-120"/>
              </a:rPr>
              <a:t> (table row) with corresponding </a:t>
            </a:r>
            <a:r>
              <a:rPr lang="en-US" sz="700" dirty="0">
                <a:solidFill>
                  <a:srgbClr val="6F655D"/>
                </a:solidFill>
                <a:highlight>
                  <a:srgbClr val="F2EDE9"/>
                </a:highlight>
                <a:latin typeface="Consolas" pitchFamily="34" charset="0"/>
                <a:ea typeface="Consolas" pitchFamily="34" charset="-122"/>
                <a:cs typeface="Consolas" pitchFamily="34" charset="-120"/>
              </a:rPr>
              <a:t>&lt;td&gt;</a:t>
            </a:r>
            <a:r>
              <a:rPr lang="en-US" sz="700" dirty="0">
                <a:solidFill>
                  <a:srgbClr val="6F655D"/>
                </a:solidFill>
                <a:latin typeface="Public Sans" pitchFamily="34" charset="0"/>
                <a:ea typeface="Public Sans" pitchFamily="34" charset="-122"/>
                <a:cs typeface="Public Sans" pitchFamily="34" charset="-120"/>
              </a:rPr>
              <a:t> (table data) cells.</a:t>
            </a:r>
            <a:endParaRPr lang="en-US" sz="700" dirty="0"/>
          </a:p>
        </p:txBody>
      </p:sp>
      <p:pic>
        <p:nvPicPr>
          <p:cNvPr id="9"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00132" y="6188472"/>
            <a:ext cx="3591430" cy="730448"/>
          </a:xfrm>
          <a:prstGeom prst="rect">
            <a:avLst/>
          </a:prstGeom>
        </p:spPr>
      </p:pic>
      <p:sp>
        <p:nvSpPr>
          <p:cNvPr id="10" name="Text 6"/>
          <p:cNvSpPr/>
          <p:nvPr/>
        </p:nvSpPr>
        <p:spPr>
          <a:xfrm>
            <a:off x="4458085" y="6295628"/>
            <a:ext cx="3326325" cy="147638"/>
          </a:xfrm>
          <a:prstGeom prst="rect">
            <a:avLst/>
          </a:prstGeom>
          <a:noFill/>
          <a:ln/>
        </p:spPr>
        <p:txBody>
          <a:bodyPr wrap="none" lIns="0" tIns="0" rIns="0" bIns="0" rtlCol="0" anchor="t"/>
          <a:lstStyle/>
          <a:p>
            <a:pPr marL="0" indent="0" algn="l">
              <a:lnSpc>
                <a:spcPct val="104000"/>
              </a:lnSpc>
              <a:buNone/>
            </a:pPr>
            <a:r>
              <a:rPr lang="en-US" sz="900" dirty="0">
                <a:solidFill>
                  <a:srgbClr val="6F655D"/>
                </a:solidFill>
                <a:latin typeface="Playfair Display SemiBold" pitchFamily="34" charset="0"/>
                <a:ea typeface="Playfair Display SemiBold" pitchFamily="34" charset="-122"/>
                <a:cs typeface="Playfair Display SemiBold" pitchFamily="34" charset="-120"/>
              </a:rPr>
              <a:t>Action Links</a:t>
            </a:r>
            <a:endParaRPr lang="en-US" sz="900" dirty="0"/>
          </a:p>
        </p:txBody>
      </p:sp>
      <p:sp>
        <p:nvSpPr>
          <p:cNvPr id="11" name="Text 7"/>
          <p:cNvSpPr/>
          <p:nvPr/>
        </p:nvSpPr>
        <p:spPr>
          <a:xfrm>
            <a:off x="4458085" y="6471543"/>
            <a:ext cx="3326325" cy="226814"/>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6F655D"/>
                </a:solidFill>
                <a:latin typeface="Public Sans" pitchFamily="34" charset="0"/>
                <a:ea typeface="Public Sans" pitchFamily="34" charset="-122"/>
                <a:cs typeface="Public Sans" pitchFamily="34" charset="-120"/>
              </a:rPr>
              <a:t>Each student row includes "Edit" and "Delete" links, dynamically pointing to specific routes using the student's </a:t>
            </a:r>
            <a:r>
              <a:rPr lang="en-US" sz="700" dirty="0">
                <a:solidFill>
                  <a:srgbClr val="6F655D"/>
                </a:solidFill>
                <a:highlight>
                  <a:srgbClr val="F2EDE9"/>
                </a:highlight>
                <a:latin typeface="Consolas" pitchFamily="34" charset="0"/>
                <a:ea typeface="Consolas" pitchFamily="34" charset="-122"/>
                <a:cs typeface="Consolas" pitchFamily="34" charset="-120"/>
              </a:rPr>
              <a:t>id</a:t>
            </a:r>
            <a:r>
              <a:rPr lang="en-US" sz="700" dirty="0">
                <a:solidFill>
                  <a:srgbClr val="6F655D"/>
                </a:solidFill>
                <a:latin typeface="Public Sans" pitchFamily="34" charset="0"/>
                <a:ea typeface="Public Sans" pitchFamily="34" charset="-122"/>
                <a:cs typeface="Public Sans" pitchFamily="34" charset="-120"/>
              </a:rPr>
              <a:t>.</a:t>
            </a:r>
            <a:endParaRPr lang="en-US" sz="7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38790" y="6188472"/>
            <a:ext cx="3591430" cy="730448"/>
          </a:xfrm>
          <a:prstGeom prst="rect">
            <a:avLst/>
          </a:prstGeom>
        </p:spPr>
      </p:pic>
      <p:sp>
        <p:nvSpPr>
          <p:cNvPr id="13" name="Text 8"/>
          <p:cNvSpPr/>
          <p:nvPr/>
        </p:nvSpPr>
        <p:spPr>
          <a:xfrm>
            <a:off x="8096742" y="6295628"/>
            <a:ext cx="3326325" cy="147638"/>
          </a:xfrm>
          <a:prstGeom prst="rect">
            <a:avLst/>
          </a:prstGeom>
          <a:noFill/>
          <a:ln/>
        </p:spPr>
        <p:txBody>
          <a:bodyPr wrap="none" lIns="0" tIns="0" rIns="0" bIns="0" rtlCol="0" anchor="t"/>
          <a:lstStyle/>
          <a:p>
            <a:pPr marL="0" indent="0" algn="l">
              <a:lnSpc>
                <a:spcPct val="104000"/>
              </a:lnSpc>
              <a:buNone/>
            </a:pPr>
            <a:r>
              <a:rPr lang="en-US" sz="900" dirty="0">
                <a:solidFill>
                  <a:srgbClr val="6F655D"/>
                </a:solidFill>
                <a:latin typeface="Playfair Display SemiBold" pitchFamily="34" charset="0"/>
                <a:ea typeface="Playfair Display SemiBold" pitchFamily="34" charset="-122"/>
                <a:cs typeface="Playfair Display SemiBold" pitchFamily="34" charset="-120"/>
              </a:rPr>
              <a:t>HTML Structure</a:t>
            </a:r>
            <a:endParaRPr lang="en-US" sz="900" dirty="0"/>
          </a:p>
        </p:txBody>
      </p:sp>
      <p:sp>
        <p:nvSpPr>
          <p:cNvPr id="14" name="Text 9"/>
          <p:cNvSpPr/>
          <p:nvPr/>
        </p:nvSpPr>
        <p:spPr>
          <a:xfrm>
            <a:off x="8096742" y="6471543"/>
            <a:ext cx="3326325" cy="340221"/>
          </a:xfrm>
          <a:prstGeom prst="rect">
            <a:avLst/>
          </a:prstGeom>
          <a:noFill/>
          <a:ln/>
        </p:spPr>
        <p:txBody>
          <a:bodyPr wrap="square" lIns="0" tIns="0" rIns="0" bIns="0" rtlCol="0" anchor="t">
            <a:normAutofit/>
          </a:bodyPr>
          <a:lstStyle/>
          <a:p>
            <a:pPr marL="0" indent="0" algn="l">
              <a:lnSpc>
                <a:spcPct val="100000"/>
              </a:lnSpc>
              <a:buNone/>
            </a:pPr>
            <a:r>
              <a:rPr lang="en-US" sz="700" dirty="0">
                <a:solidFill>
                  <a:srgbClr val="6F655D"/>
                </a:solidFill>
                <a:latin typeface="Public Sans" pitchFamily="34" charset="0"/>
                <a:ea typeface="Public Sans" pitchFamily="34" charset="-122"/>
                <a:cs typeface="Public Sans" pitchFamily="34" charset="-120"/>
              </a:rPr>
              <a:t>The generated rows are embedded within a standard </a:t>
            </a:r>
            <a:r>
              <a:rPr lang="en-US" sz="700" dirty="0">
                <a:solidFill>
                  <a:srgbClr val="6F655D"/>
                </a:solidFill>
                <a:highlight>
                  <a:srgbClr val="F2EDE9"/>
                </a:highlight>
                <a:latin typeface="Consolas" pitchFamily="34" charset="0"/>
                <a:ea typeface="Consolas" pitchFamily="34" charset="-122"/>
                <a:cs typeface="Consolas" pitchFamily="34" charset="-120"/>
              </a:rPr>
              <a:t>&lt;table&gt;</a:t>
            </a:r>
            <a:r>
              <a:rPr lang="en-US" sz="700" dirty="0">
                <a:solidFill>
                  <a:srgbClr val="6F655D"/>
                </a:solidFill>
                <a:latin typeface="Public Sans" pitchFamily="34" charset="0"/>
                <a:ea typeface="Public Sans" pitchFamily="34" charset="-122"/>
                <a:cs typeface="Public Sans" pitchFamily="34" charset="-120"/>
              </a:rPr>
              <a:t>, including </a:t>
            </a:r>
            <a:r>
              <a:rPr lang="en-US" sz="700" dirty="0">
                <a:solidFill>
                  <a:srgbClr val="6F655D"/>
                </a:solidFill>
                <a:highlight>
                  <a:srgbClr val="F2EDE9"/>
                </a:highlight>
                <a:latin typeface="Consolas" pitchFamily="34" charset="0"/>
                <a:ea typeface="Consolas" pitchFamily="34" charset="-122"/>
                <a:cs typeface="Consolas" pitchFamily="34" charset="-120"/>
              </a:rPr>
              <a:t>&lt;thead&gt;</a:t>
            </a:r>
            <a:r>
              <a:rPr lang="en-US" sz="700" dirty="0">
                <a:solidFill>
                  <a:srgbClr val="6F655D"/>
                </a:solidFill>
                <a:latin typeface="Public Sans" pitchFamily="34" charset="0"/>
                <a:ea typeface="Public Sans" pitchFamily="34" charset="-122"/>
                <a:cs typeface="Public Sans" pitchFamily="34" charset="-120"/>
              </a:rPr>
              <a:t> for headers and </a:t>
            </a:r>
            <a:r>
              <a:rPr lang="en-US" sz="700" dirty="0">
                <a:solidFill>
                  <a:srgbClr val="6F655D"/>
                </a:solidFill>
                <a:highlight>
                  <a:srgbClr val="F2EDE9"/>
                </a:highlight>
                <a:latin typeface="Consolas" pitchFamily="34" charset="0"/>
                <a:ea typeface="Consolas" pitchFamily="34" charset="-122"/>
                <a:cs typeface="Consolas" pitchFamily="34" charset="-120"/>
              </a:rPr>
              <a:t>&lt;tbody&gt;</a:t>
            </a:r>
            <a:r>
              <a:rPr lang="en-US" sz="700" dirty="0">
                <a:solidFill>
                  <a:srgbClr val="6F655D"/>
                </a:solidFill>
                <a:latin typeface="Public Sans" pitchFamily="34" charset="0"/>
                <a:ea typeface="Public Sans" pitchFamily="34" charset="-122"/>
                <a:cs typeface="Public Sans" pitchFamily="34" charset="-120"/>
              </a:rPr>
              <a:t> for data, ensuring proper semantic markup.</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566440"/>
            <a:ext cx="10868745" cy="461466"/>
          </a:xfrm>
          <a:prstGeom prst="rect">
            <a:avLst/>
          </a:prstGeom>
          <a:noFill/>
          <a:ln/>
        </p:spPr>
        <p:txBody>
          <a:bodyPr wrap="none" lIns="0" tIns="0" rIns="0" bIns="0" rtlCol="0" anchor="t"/>
          <a:lstStyle/>
          <a:p>
            <a:pPr marL="0" indent="0" algn="l">
              <a:lnSpc>
                <a:spcPct val="104000"/>
              </a:lnSpc>
              <a:buNone/>
            </a:pPr>
            <a:r>
              <a:rPr lang="en-US" sz="2900" dirty="0">
                <a:solidFill>
                  <a:srgbClr val="4B6981"/>
                </a:solidFill>
                <a:latin typeface="Playfair Display SemiBold" pitchFamily="34" charset="0"/>
                <a:ea typeface="Playfair Display SemiBold" pitchFamily="34" charset="-122"/>
                <a:cs typeface="Playfair Display SemiBold" pitchFamily="34" charset="-120"/>
              </a:rPr>
              <a:t>Step 10: Style Your Table</a:t>
            </a:r>
            <a:endParaRPr lang="en-US" sz="2900" dirty="0"/>
          </a:p>
        </p:txBody>
      </p:sp>
      <p:sp>
        <p:nvSpPr>
          <p:cNvPr id="3" name="Text 1"/>
          <p:cNvSpPr/>
          <p:nvPr/>
        </p:nvSpPr>
        <p:spPr>
          <a:xfrm>
            <a:off x="661475" y="1258590"/>
            <a:ext cx="11478330" cy="210344"/>
          </a:xfrm>
          <a:prstGeom prst="rect">
            <a:avLst/>
          </a:prstGeom>
          <a:noFill/>
          <a:ln/>
        </p:spPr>
        <p:txBody>
          <a:bodyPr wrap="none" lIns="0" tIns="0" rIns="0" bIns="0" rtlCol="0" anchor="t"/>
          <a:lstStyle/>
          <a:p>
            <a:pPr marL="0" indent="0" algn="l">
              <a:lnSpc>
                <a:spcPct val="119000"/>
              </a:lnSpc>
              <a:buNone/>
            </a:pPr>
            <a:r>
              <a:rPr lang="en-US" sz="1150" dirty="0">
                <a:solidFill>
                  <a:srgbClr val="6F655D"/>
                </a:solidFill>
                <a:latin typeface="Public Sans" pitchFamily="34" charset="0"/>
                <a:ea typeface="Public Sans" pitchFamily="34" charset="-122"/>
                <a:cs typeface="Public Sans" pitchFamily="34" charset="-120"/>
              </a:rPr>
              <a:t>Add the following CSS to your </a:t>
            </a:r>
            <a:r>
              <a:rPr lang="en-US" sz="1150" dirty="0">
                <a:solidFill>
                  <a:srgbClr val="6F655D"/>
                </a:solidFill>
                <a:highlight>
                  <a:srgbClr val="F2EDE9"/>
                </a:highlight>
                <a:latin typeface="Consolas" pitchFamily="34" charset="0"/>
                <a:ea typeface="Consolas" pitchFamily="34" charset="-122"/>
                <a:cs typeface="Consolas" pitchFamily="34" charset="-120"/>
              </a:rPr>
              <a:t>style.css</a:t>
            </a:r>
            <a:r>
              <a:rPr lang="en-US" sz="1150" dirty="0">
                <a:solidFill>
                  <a:srgbClr val="6F655D"/>
                </a:solidFill>
                <a:latin typeface="Public Sans" pitchFamily="34" charset="0"/>
                <a:ea typeface="Public Sans" pitchFamily="34" charset="-122"/>
                <a:cs typeface="Public Sans" pitchFamily="34" charset="-120"/>
              </a:rPr>
              <a:t> file to style your student table with borders, proper spacing, and centered alignment:</a:t>
            </a:r>
            <a:endParaRPr lang="en-US" sz="1150" dirty="0"/>
          </a:p>
        </p:txBody>
      </p:sp>
      <p:sp>
        <p:nvSpPr>
          <p:cNvPr id="4" name="Shape 2"/>
          <p:cNvSpPr/>
          <p:nvPr/>
        </p:nvSpPr>
        <p:spPr>
          <a:xfrm>
            <a:off x="661475" y="1598712"/>
            <a:ext cx="10868745" cy="2420541"/>
          </a:xfrm>
          <a:prstGeom prst="roundRect">
            <a:avLst>
              <a:gd name="adj" fmla="val 2562"/>
            </a:avLst>
          </a:prstGeom>
          <a:solidFill>
            <a:srgbClr val="F2EDE9"/>
          </a:solidFill>
          <a:ln/>
        </p:spPr>
        <p:txBody>
          <a:bodyPr/>
          <a:lstStyle/>
          <a:p>
            <a:endParaRPr lang="da-DK"/>
          </a:p>
        </p:txBody>
      </p:sp>
      <p:sp>
        <p:nvSpPr>
          <p:cNvPr id="5" name="Text 3"/>
          <p:cNvSpPr/>
          <p:nvPr/>
        </p:nvSpPr>
        <p:spPr>
          <a:xfrm>
            <a:off x="838675" y="1746349"/>
            <a:ext cx="10514345" cy="2125266"/>
          </a:xfrm>
          <a:prstGeom prst="rect">
            <a:avLst/>
          </a:prstGeom>
          <a:noFill/>
          <a:ln/>
        </p:spPr>
        <p:txBody>
          <a:bodyPr wrap="square" lIns="0" tIns="0" rIns="0" bIns="0" rtlCol="0" anchor="t">
            <a:normAutofit/>
          </a:bodyPr>
          <a:lstStyle/>
          <a:p>
            <a:pPr marL="0" indent="0" algn="l">
              <a:lnSpc>
                <a:spcPct val="133000"/>
              </a:lnSpc>
              <a:buNone/>
            </a:pPr>
            <a:r>
              <a:rPr lang="en-US" sz="1150" dirty="0">
                <a:solidFill>
                  <a:srgbClr val="22863A"/>
                </a:solidFill>
                <a:latin typeface="Consolas" pitchFamily="34" charset="0"/>
                <a:ea typeface="Consolas" pitchFamily="34" charset="-122"/>
                <a:cs typeface="Consolas" pitchFamily="34" charset="-120"/>
              </a:rPr>
              <a:t>table, th, td {</a:t>
            </a:r>
            <a:endParaRPr lang="en-US" sz="1150" dirty="0"/>
          </a:p>
          <a:p>
            <a:pPr marL="0" indent="0" algn="l">
              <a:lnSpc>
                <a:spcPct val="133000"/>
              </a:lnSpc>
              <a:buNone/>
            </a:pPr>
            <a:r>
              <a:rPr lang="en-US" sz="1150" dirty="0">
                <a:solidFill>
                  <a:srgbClr val="22863A"/>
                </a:solidFill>
                <a:latin typeface="Consolas" pitchFamily="34" charset="0"/>
                <a:ea typeface="Consolas" pitchFamily="34" charset="-122"/>
                <a:cs typeface="Consolas" pitchFamily="34" charset="-120"/>
              </a:rPr>
              <a:t>    border: 1px solid black;</a:t>
            </a:r>
            <a:endParaRPr lang="en-US" sz="1150" dirty="0"/>
          </a:p>
          <a:p>
            <a:pPr marL="0" indent="0" algn="l">
              <a:lnSpc>
                <a:spcPct val="133000"/>
              </a:lnSpc>
              <a:buNone/>
            </a:pPr>
            <a:r>
              <a:rPr lang="en-US" sz="1150" dirty="0">
                <a:solidFill>
                  <a:srgbClr val="22863A"/>
                </a:solidFill>
                <a:latin typeface="Consolas" pitchFamily="34" charset="0"/>
                <a:ea typeface="Consolas" pitchFamily="34" charset="-122"/>
                <a:cs typeface="Consolas" pitchFamily="34" charset="-120"/>
              </a:rPr>
              <a:t>    border-collapse: collapse;</a:t>
            </a:r>
            <a:endParaRPr lang="en-US" sz="1150" dirty="0"/>
          </a:p>
          <a:p>
            <a:pPr marL="0" indent="0" algn="l">
              <a:lnSpc>
                <a:spcPct val="133000"/>
              </a:lnSpc>
              <a:buNone/>
            </a:pPr>
            <a:r>
              <a:rPr lang="en-US" sz="1150" dirty="0">
                <a:solidFill>
                  <a:srgbClr val="22863A"/>
                </a:solidFill>
                <a:latin typeface="Consolas" pitchFamily="34" charset="0"/>
                <a:ea typeface="Consolas" pitchFamily="34" charset="-122"/>
                <a:cs typeface="Consolas" pitchFamily="34" charset="-120"/>
              </a:rPr>
              <a:t>    padding: 8px;</a:t>
            </a:r>
            <a:endParaRPr lang="en-US" sz="1150" dirty="0"/>
          </a:p>
          <a:p>
            <a:pPr marL="0" indent="0" algn="l">
              <a:lnSpc>
                <a:spcPct val="133000"/>
              </a:lnSpc>
              <a:buNone/>
            </a:pPr>
            <a:r>
              <a:rPr lang="en-US" sz="1150" dirty="0">
                <a:solidFill>
                  <a:srgbClr val="22863A"/>
                </a:solidFill>
                <a:latin typeface="Consolas" pitchFamily="34" charset="0"/>
                <a:ea typeface="Consolas" pitchFamily="34" charset="-122"/>
                <a:cs typeface="Consolas" pitchFamily="34" charset="-120"/>
              </a:rPr>
              <a:t>}</a:t>
            </a:r>
            <a:endParaRPr lang="en-US" sz="1150" dirty="0"/>
          </a:p>
          <a:p>
            <a:pPr marL="0" indent="0" algn="l">
              <a:lnSpc>
                <a:spcPct val="133000"/>
              </a:lnSpc>
              <a:buNone/>
            </a:pPr>
            <a:endParaRPr lang="en-US" sz="1150" dirty="0"/>
          </a:p>
          <a:p>
            <a:pPr marL="0" indent="0" algn="l">
              <a:lnSpc>
                <a:spcPct val="133000"/>
              </a:lnSpc>
              <a:buNone/>
            </a:pPr>
            <a:r>
              <a:rPr lang="en-US" sz="1150" dirty="0">
                <a:solidFill>
                  <a:srgbClr val="22863A"/>
                </a:solidFill>
                <a:latin typeface="Consolas" pitchFamily="34" charset="0"/>
                <a:ea typeface="Consolas" pitchFamily="34" charset="-122"/>
                <a:cs typeface="Consolas" pitchFamily="34" charset="-120"/>
              </a:rPr>
              <a:t>table {</a:t>
            </a:r>
            <a:endParaRPr lang="en-US" sz="1150" dirty="0"/>
          </a:p>
          <a:p>
            <a:pPr marL="0" indent="0" algn="l">
              <a:lnSpc>
                <a:spcPct val="133000"/>
              </a:lnSpc>
              <a:buNone/>
            </a:pPr>
            <a:r>
              <a:rPr lang="en-US" sz="1150" dirty="0">
                <a:solidFill>
                  <a:srgbClr val="22863A"/>
                </a:solidFill>
                <a:latin typeface="Consolas" pitchFamily="34" charset="0"/>
                <a:ea typeface="Consolas" pitchFamily="34" charset="-122"/>
                <a:cs typeface="Consolas" pitchFamily="34" charset="-120"/>
              </a:rPr>
              <a:t>    margin: auto;</a:t>
            </a:r>
            <a:endParaRPr lang="en-US" sz="1150" dirty="0"/>
          </a:p>
          <a:p>
            <a:pPr marL="0" indent="0" algn="l">
              <a:lnSpc>
                <a:spcPct val="133000"/>
              </a:lnSpc>
              <a:buNone/>
            </a:pPr>
            <a:r>
              <a:rPr lang="en-US" sz="1150" dirty="0">
                <a:solidFill>
                  <a:srgbClr val="22863A"/>
                </a:solidFill>
                <a:latin typeface="Consolas" pitchFamily="34" charset="0"/>
                <a:ea typeface="Consolas" pitchFamily="34" charset="-122"/>
                <a:cs typeface="Consolas" pitchFamily="34" charset="-120"/>
              </a:rPr>
              <a:t>}</a:t>
            </a:r>
            <a:endParaRPr lang="en-US" sz="1150" dirty="0"/>
          </a:p>
        </p:txBody>
      </p:sp>
      <p:sp>
        <p:nvSpPr>
          <p:cNvPr id="6" name="Text 4"/>
          <p:cNvSpPr/>
          <p:nvPr/>
        </p:nvSpPr>
        <p:spPr>
          <a:xfrm>
            <a:off x="661475" y="4149030"/>
            <a:ext cx="11478330" cy="210344"/>
          </a:xfrm>
          <a:prstGeom prst="rect">
            <a:avLst/>
          </a:prstGeom>
          <a:noFill/>
          <a:ln/>
        </p:spPr>
        <p:txBody>
          <a:bodyPr wrap="none" lIns="0" tIns="0" rIns="0" bIns="0" rtlCol="0" anchor="t"/>
          <a:lstStyle/>
          <a:p>
            <a:pPr marL="0" indent="0" algn="l">
              <a:lnSpc>
                <a:spcPct val="119000"/>
              </a:lnSpc>
              <a:buNone/>
            </a:pPr>
            <a:r>
              <a:rPr lang="en-US" sz="1150" dirty="0">
                <a:solidFill>
                  <a:srgbClr val="6F655D"/>
                </a:solidFill>
                <a:latin typeface="Public Sans" pitchFamily="34" charset="0"/>
                <a:ea typeface="Public Sans" pitchFamily="34" charset="-122"/>
                <a:cs typeface="Public Sans" pitchFamily="34" charset="-120"/>
              </a:rPr>
              <a:t>This styling will:</a:t>
            </a:r>
            <a:endParaRPr lang="en-US" sz="115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4489152"/>
            <a:ext cx="5376728" cy="843558"/>
          </a:xfrm>
          <a:prstGeom prst="rect">
            <a:avLst/>
          </a:prstGeom>
        </p:spPr>
      </p:pic>
      <p:sp>
        <p:nvSpPr>
          <p:cNvPr id="8" name="Text 5"/>
          <p:cNvSpPr/>
          <p:nvPr/>
        </p:nvSpPr>
        <p:spPr>
          <a:xfrm>
            <a:off x="904356" y="4655840"/>
            <a:ext cx="4967163" cy="230684"/>
          </a:xfrm>
          <a:prstGeom prst="rect">
            <a:avLst/>
          </a:prstGeom>
          <a:noFill/>
          <a:ln/>
        </p:spPr>
        <p:txBody>
          <a:bodyPr wrap="none" lIns="0" tIns="0" rIns="0" bIns="0" rtlCol="0" anchor="t"/>
          <a:lstStyle/>
          <a:p>
            <a:pPr marL="0" indent="0" algn="l">
              <a:lnSpc>
                <a:spcPct val="104000"/>
              </a:lnSpc>
              <a:buNone/>
            </a:pPr>
            <a:r>
              <a:rPr lang="en-US" sz="1450" dirty="0">
                <a:solidFill>
                  <a:srgbClr val="6F655D"/>
                </a:solidFill>
                <a:latin typeface="Playfair Display SemiBold" pitchFamily="34" charset="0"/>
                <a:ea typeface="Playfair Display SemiBold" pitchFamily="34" charset="-122"/>
                <a:cs typeface="Playfair Display SemiBold" pitchFamily="34" charset="-120"/>
              </a:rPr>
              <a:t>Borders</a:t>
            </a:r>
            <a:endParaRPr lang="en-US" sz="1450" dirty="0"/>
          </a:p>
        </p:txBody>
      </p:sp>
      <p:sp>
        <p:nvSpPr>
          <p:cNvPr id="9" name="Text 6"/>
          <p:cNvSpPr/>
          <p:nvPr/>
        </p:nvSpPr>
        <p:spPr>
          <a:xfrm>
            <a:off x="904356" y="4955679"/>
            <a:ext cx="4967163" cy="210344"/>
          </a:xfrm>
          <a:prstGeom prst="rect">
            <a:avLst/>
          </a:prstGeom>
          <a:noFill/>
          <a:ln/>
        </p:spPr>
        <p:txBody>
          <a:bodyPr wrap="none" lIns="0" tIns="0" rIns="0" bIns="0" rtlCol="0" anchor="t"/>
          <a:lstStyle/>
          <a:p>
            <a:pPr marL="0" indent="0" algn="l">
              <a:lnSpc>
                <a:spcPct val="119000"/>
              </a:lnSpc>
              <a:buNone/>
            </a:pPr>
            <a:r>
              <a:rPr lang="en-US" sz="1150" dirty="0">
                <a:solidFill>
                  <a:srgbClr val="6F655D"/>
                </a:solidFill>
                <a:latin typeface="Public Sans" pitchFamily="34" charset="0"/>
                <a:ea typeface="Public Sans" pitchFamily="34" charset="-122"/>
                <a:cs typeface="Public Sans" pitchFamily="34" charset="-120"/>
              </a:rPr>
              <a:t>Add borders around all table cells</a:t>
            </a:r>
            <a:endParaRPr lang="en-US" sz="115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153492" y="4489152"/>
            <a:ext cx="5376728" cy="843558"/>
          </a:xfrm>
          <a:prstGeom prst="rect">
            <a:avLst/>
          </a:prstGeom>
        </p:spPr>
      </p:pic>
      <p:sp>
        <p:nvSpPr>
          <p:cNvPr id="11" name="Text 7"/>
          <p:cNvSpPr/>
          <p:nvPr/>
        </p:nvSpPr>
        <p:spPr>
          <a:xfrm>
            <a:off x="6396374" y="4655840"/>
            <a:ext cx="4967163" cy="230684"/>
          </a:xfrm>
          <a:prstGeom prst="rect">
            <a:avLst/>
          </a:prstGeom>
          <a:noFill/>
          <a:ln/>
        </p:spPr>
        <p:txBody>
          <a:bodyPr wrap="none" lIns="0" tIns="0" rIns="0" bIns="0" rtlCol="0" anchor="t"/>
          <a:lstStyle/>
          <a:p>
            <a:pPr marL="0" indent="0" algn="l">
              <a:lnSpc>
                <a:spcPct val="104000"/>
              </a:lnSpc>
              <a:buNone/>
            </a:pPr>
            <a:r>
              <a:rPr lang="en-US" sz="1450" dirty="0">
                <a:solidFill>
                  <a:srgbClr val="6F655D"/>
                </a:solidFill>
                <a:latin typeface="Playfair Display SemiBold" pitchFamily="34" charset="0"/>
                <a:ea typeface="Playfair Display SemiBold" pitchFamily="34" charset="-122"/>
                <a:cs typeface="Playfair Display SemiBold" pitchFamily="34" charset="-120"/>
              </a:rPr>
              <a:t>Collapse</a:t>
            </a:r>
            <a:endParaRPr lang="en-US" sz="1450" dirty="0"/>
          </a:p>
        </p:txBody>
      </p:sp>
      <p:sp>
        <p:nvSpPr>
          <p:cNvPr id="12" name="Text 8"/>
          <p:cNvSpPr/>
          <p:nvPr/>
        </p:nvSpPr>
        <p:spPr>
          <a:xfrm>
            <a:off x="6396374" y="4955679"/>
            <a:ext cx="4967163" cy="210344"/>
          </a:xfrm>
          <a:prstGeom prst="rect">
            <a:avLst/>
          </a:prstGeom>
          <a:noFill/>
          <a:ln/>
        </p:spPr>
        <p:txBody>
          <a:bodyPr wrap="none" lIns="0" tIns="0" rIns="0" bIns="0" rtlCol="0" anchor="t"/>
          <a:lstStyle/>
          <a:p>
            <a:pPr marL="0" indent="0" algn="l">
              <a:lnSpc>
                <a:spcPct val="119000"/>
              </a:lnSpc>
              <a:buNone/>
            </a:pPr>
            <a:r>
              <a:rPr lang="en-US" sz="1150" dirty="0">
                <a:solidFill>
                  <a:srgbClr val="6F655D"/>
                </a:solidFill>
                <a:latin typeface="Public Sans" pitchFamily="34" charset="0"/>
                <a:ea typeface="Public Sans" pitchFamily="34" charset="-122"/>
                <a:cs typeface="Public Sans" pitchFamily="34" charset="-120"/>
              </a:rPr>
              <a:t>Collapse borders to prevent double lines</a:t>
            </a:r>
            <a:endParaRPr lang="en-US" sz="1150" dirty="0"/>
          </a:p>
        </p:txBody>
      </p:sp>
      <p:pic>
        <p:nvPicPr>
          <p:cNvPr id="13"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1475" y="5448002"/>
            <a:ext cx="5376728" cy="843558"/>
          </a:xfrm>
          <a:prstGeom prst="rect">
            <a:avLst/>
          </a:prstGeom>
        </p:spPr>
      </p:pic>
      <p:sp>
        <p:nvSpPr>
          <p:cNvPr id="14" name="Text 9"/>
          <p:cNvSpPr/>
          <p:nvPr/>
        </p:nvSpPr>
        <p:spPr>
          <a:xfrm>
            <a:off x="904356" y="5614690"/>
            <a:ext cx="4967163" cy="230684"/>
          </a:xfrm>
          <a:prstGeom prst="rect">
            <a:avLst/>
          </a:prstGeom>
          <a:noFill/>
          <a:ln/>
        </p:spPr>
        <p:txBody>
          <a:bodyPr wrap="none" lIns="0" tIns="0" rIns="0" bIns="0" rtlCol="0" anchor="t"/>
          <a:lstStyle/>
          <a:p>
            <a:pPr marL="0" indent="0" algn="l">
              <a:lnSpc>
                <a:spcPct val="104000"/>
              </a:lnSpc>
              <a:buNone/>
            </a:pPr>
            <a:r>
              <a:rPr lang="en-US" sz="1450" dirty="0">
                <a:solidFill>
                  <a:srgbClr val="6F655D"/>
                </a:solidFill>
                <a:latin typeface="Playfair Display SemiBold" pitchFamily="34" charset="0"/>
                <a:ea typeface="Playfair Display SemiBold" pitchFamily="34" charset="-122"/>
                <a:cs typeface="Playfair Display SemiBold" pitchFamily="34" charset="-120"/>
              </a:rPr>
              <a:t>Padding</a:t>
            </a:r>
            <a:endParaRPr lang="en-US" sz="1450" dirty="0"/>
          </a:p>
        </p:txBody>
      </p:sp>
      <p:sp>
        <p:nvSpPr>
          <p:cNvPr id="15" name="Text 10"/>
          <p:cNvSpPr/>
          <p:nvPr/>
        </p:nvSpPr>
        <p:spPr>
          <a:xfrm>
            <a:off x="904356" y="5914529"/>
            <a:ext cx="4967163" cy="210344"/>
          </a:xfrm>
          <a:prstGeom prst="rect">
            <a:avLst/>
          </a:prstGeom>
          <a:noFill/>
          <a:ln/>
        </p:spPr>
        <p:txBody>
          <a:bodyPr wrap="none" lIns="0" tIns="0" rIns="0" bIns="0" rtlCol="0" anchor="t"/>
          <a:lstStyle/>
          <a:p>
            <a:pPr marL="0" indent="0" algn="l">
              <a:lnSpc>
                <a:spcPct val="119000"/>
              </a:lnSpc>
              <a:buNone/>
            </a:pPr>
            <a:r>
              <a:rPr lang="en-US" sz="1150" dirty="0">
                <a:solidFill>
                  <a:srgbClr val="6F655D"/>
                </a:solidFill>
                <a:latin typeface="Public Sans" pitchFamily="34" charset="0"/>
                <a:ea typeface="Public Sans" pitchFamily="34" charset="-122"/>
                <a:cs typeface="Public Sans" pitchFamily="34" charset="-120"/>
              </a:rPr>
              <a:t>Add padding inside cells for better readability</a:t>
            </a:r>
            <a:endParaRPr lang="en-US" sz="1150" dirty="0"/>
          </a:p>
        </p:txBody>
      </p:sp>
      <p:pic>
        <p:nvPicPr>
          <p:cNvPr id="1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153492" y="5448002"/>
            <a:ext cx="5376728" cy="843558"/>
          </a:xfrm>
          <a:prstGeom prst="rect">
            <a:avLst/>
          </a:prstGeom>
        </p:spPr>
      </p:pic>
      <p:sp>
        <p:nvSpPr>
          <p:cNvPr id="17" name="Text 11"/>
          <p:cNvSpPr/>
          <p:nvPr/>
        </p:nvSpPr>
        <p:spPr>
          <a:xfrm>
            <a:off x="6396374" y="5614690"/>
            <a:ext cx="4967163" cy="230684"/>
          </a:xfrm>
          <a:prstGeom prst="rect">
            <a:avLst/>
          </a:prstGeom>
          <a:noFill/>
          <a:ln/>
        </p:spPr>
        <p:txBody>
          <a:bodyPr wrap="none" lIns="0" tIns="0" rIns="0" bIns="0" rtlCol="0" anchor="t"/>
          <a:lstStyle/>
          <a:p>
            <a:pPr marL="0" indent="0" algn="l">
              <a:lnSpc>
                <a:spcPct val="104000"/>
              </a:lnSpc>
              <a:buNone/>
            </a:pPr>
            <a:r>
              <a:rPr lang="en-US" sz="1450" dirty="0">
                <a:solidFill>
                  <a:srgbClr val="6F655D"/>
                </a:solidFill>
                <a:latin typeface="Playfair Display SemiBold" pitchFamily="34" charset="0"/>
                <a:ea typeface="Playfair Display SemiBold" pitchFamily="34" charset="-122"/>
                <a:cs typeface="Playfair Display SemiBold" pitchFamily="34" charset="-120"/>
              </a:rPr>
              <a:t>Center</a:t>
            </a:r>
            <a:endParaRPr lang="en-US" sz="1450" dirty="0"/>
          </a:p>
        </p:txBody>
      </p:sp>
      <p:sp>
        <p:nvSpPr>
          <p:cNvPr id="18" name="Text 12"/>
          <p:cNvSpPr/>
          <p:nvPr/>
        </p:nvSpPr>
        <p:spPr>
          <a:xfrm>
            <a:off x="6396374" y="5914529"/>
            <a:ext cx="4967163" cy="210344"/>
          </a:xfrm>
          <a:prstGeom prst="rect">
            <a:avLst/>
          </a:prstGeom>
          <a:noFill/>
          <a:ln/>
        </p:spPr>
        <p:txBody>
          <a:bodyPr wrap="none" lIns="0" tIns="0" rIns="0" bIns="0" rtlCol="0" anchor="t"/>
          <a:lstStyle/>
          <a:p>
            <a:pPr marL="0" indent="0" algn="l">
              <a:lnSpc>
                <a:spcPct val="119000"/>
              </a:lnSpc>
              <a:buNone/>
            </a:pPr>
            <a:r>
              <a:rPr lang="en-US" sz="1150" dirty="0">
                <a:solidFill>
                  <a:srgbClr val="6F655D"/>
                </a:solidFill>
                <a:latin typeface="Public Sans" pitchFamily="34" charset="0"/>
                <a:ea typeface="Public Sans" pitchFamily="34" charset="-122"/>
                <a:cs typeface="Public Sans" pitchFamily="34" charset="-120"/>
              </a:rPr>
              <a:t>Center the table on the page</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1470422"/>
            <a:ext cx="10868745" cy="590649"/>
          </a:xfrm>
          <a:prstGeom prst="rect">
            <a:avLst/>
          </a:prstGeom>
          <a:noFill/>
          <a:ln/>
        </p:spPr>
        <p:txBody>
          <a:bodyPr wrap="none" lIns="0" tIns="0" rIns="0" bIns="0" rtlCol="0" anchor="t"/>
          <a:lstStyle/>
          <a:p>
            <a:pPr marL="0" indent="0" algn="l">
              <a:lnSpc>
                <a:spcPct val="104000"/>
              </a:lnSpc>
              <a:buNone/>
            </a:pPr>
            <a:r>
              <a:rPr lang="en-US" sz="3700" dirty="0">
                <a:solidFill>
                  <a:srgbClr val="4B6981"/>
                </a:solidFill>
                <a:latin typeface="Playfair Display SemiBold" pitchFamily="34" charset="0"/>
                <a:ea typeface="Playfair Display SemiBold" pitchFamily="34" charset="-122"/>
                <a:cs typeface="Playfair Display SemiBold" pitchFamily="34" charset="-120"/>
              </a:rPr>
              <a:t>Step 11: Run Your Application</a:t>
            </a:r>
            <a:endParaRPr lang="en-US" sz="3700" dirty="0"/>
          </a:p>
        </p:txBody>
      </p:sp>
      <p:sp>
        <p:nvSpPr>
          <p:cNvPr id="3" name="Text 1"/>
          <p:cNvSpPr/>
          <p:nvPr/>
        </p:nvSpPr>
        <p:spPr>
          <a:xfrm>
            <a:off x="661475" y="2344539"/>
            <a:ext cx="10868745" cy="817463"/>
          </a:xfrm>
          <a:prstGeom prst="rect">
            <a:avLst/>
          </a:prstGeom>
          <a:noFill/>
          <a:ln/>
        </p:spPr>
        <p:txBody>
          <a:bodyPr wrap="square" lIns="0" tIns="0" rIns="0" bIns="0" rtlCol="0" anchor="t"/>
          <a:lstStyle/>
          <a:p>
            <a:pPr marL="0" indent="0" algn="l">
              <a:lnSpc>
                <a:spcPct val="133000"/>
              </a:lnSpc>
              <a:spcAft>
                <a:spcPts val="1650"/>
              </a:spcAft>
              <a:buNone/>
            </a:pPr>
            <a:r>
              <a:rPr lang="en-US" sz="1450" dirty="0">
                <a:solidFill>
                  <a:srgbClr val="6F655D"/>
                </a:solidFill>
                <a:latin typeface="Public Sans" pitchFamily="34" charset="0"/>
                <a:ea typeface="Public Sans" pitchFamily="34" charset="-122"/>
                <a:cs typeface="Public Sans" pitchFamily="34" charset="-120"/>
              </a:rPr>
              <a:t>Follow these final steps to see your student data displayed on the home page:</a:t>
            </a:r>
            <a:endParaRPr lang="en-US" sz="1450" dirty="0"/>
          </a:p>
          <a:p>
            <a:pPr marL="0" indent="0" algn="l">
              <a:lnSpc>
                <a:spcPct val="133000"/>
              </a:lnSpc>
              <a:buNone/>
            </a:pPr>
            <a:r>
              <a:rPr lang="en-US" sz="1450" b="1" dirty="0">
                <a:solidFill>
                  <a:srgbClr val="6F655D"/>
                </a:solidFill>
                <a:latin typeface="Public Sans Bold" pitchFamily="34" charset="0"/>
                <a:ea typeface="Public Sans Bold" pitchFamily="34" charset="-122"/>
                <a:cs typeface="Public Sans Bold" pitchFamily="34" charset="-120"/>
              </a:rPr>
              <a:t>Step 12:</a:t>
            </a:r>
            <a:r>
              <a:rPr lang="en-US" sz="1450" dirty="0">
                <a:solidFill>
                  <a:srgbClr val="6F655D"/>
                </a:solidFill>
                <a:latin typeface="Public Sans" pitchFamily="34" charset="0"/>
                <a:ea typeface="Public Sans" pitchFamily="34" charset="-122"/>
                <a:cs typeface="Public Sans" pitchFamily="34" charset="-120"/>
              </a:rPr>
              <a:t> Save all the files and in terminal run this command:</a:t>
            </a:r>
            <a:endParaRPr lang="en-US" sz="1450" dirty="0"/>
          </a:p>
        </p:txBody>
      </p:sp>
      <p:sp>
        <p:nvSpPr>
          <p:cNvPr id="4" name="Shape 2"/>
          <p:cNvSpPr/>
          <p:nvPr/>
        </p:nvSpPr>
        <p:spPr>
          <a:xfrm>
            <a:off x="661475" y="3374628"/>
            <a:ext cx="10868745" cy="680442"/>
          </a:xfrm>
          <a:prstGeom prst="roundRect">
            <a:avLst>
              <a:gd name="adj" fmla="val 11667"/>
            </a:avLst>
          </a:prstGeom>
          <a:solidFill>
            <a:srgbClr val="F2EDE9"/>
          </a:solidFill>
          <a:ln/>
        </p:spPr>
        <p:txBody>
          <a:bodyPr/>
          <a:lstStyle/>
          <a:p>
            <a:endParaRPr lang="da-DK"/>
          </a:p>
        </p:txBody>
      </p:sp>
      <p:sp>
        <p:nvSpPr>
          <p:cNvPr id="5" name="Text 3"/>
          <p:cNvSpPr/>
          <p:nvPr/>
        </p:nvSpPr>
        <p:spPr>
          <a:xfrm>
            <a:off x="888283" y="3563640"/>
            <a:ext cx="11024713" cy="302419"/>
          </a:xfrm>
          <a:prstGeom prst="rect">
            <a:avLst/>
          </a:prstGeom>
          <a:noFill/>
          <a:ln/>
        </p:spPr>
        <p:txBody>
          <a:bodyPr wrap="none" lIns="0" tIns="0" rIns="0" bIns="0" rtlCol="0" anchor="t"/>
          <a:lstStyle/>
          <a:p>
            <a:pPr marL="0" indent="0" algn="l">
              <a:lnSpc>
                <a:spcPct val="133000"/>
              </a:lnSpc>
              <a:buNone/>
            </a:pPr>
            <a:r>
              <a:rPr lang="en-US" sz="1450" dirty="0">
                <a:solidFill>
                  <a:srgbClr val="24292E"/>
                </a:solidFill>
                <a:latin typeface="Consolas" pitchFamily="34" charset="0"/>
                <a:ea typeface="Consolas" pitchFamily="34" charset="-122"/>
                <a:cs typeface="Consolas" pitchFamily="34" charset="-120"/>
              </a:rPr>
              <a:t>deno --watch --allow-all main.js</a:t>
            </a:r>
            <a:endParaRPr lang="en-US" sz="1450" dirty="0"/>
          </a:p>
        </p:txBody>
      </p:sp>
      <p:sp>
        <p:nvSpPr>
          <p:cNvPr id="6" name="Text 4"/>
          <p:cNvSpPr/>
          <p:nvPr/>
        </p:nvSpPr>
        <p:spPr>
          <a:xfrm>
            <a:off x="661475" y="4267696"/>
            <a:ext cx="10868745" cy="1119882"/>
          </a:xfrm>
          <a:prstGeom prst="rect">
            <a:avLst/>
          </a:prstGeom>
          <a:noFill/>
          <a:ln/>
        </p:spPr>
        <p:txBody>
          <a:bodyPr wrap="square" lIns="0" tIns="0" rIns="0" bIns="0" rtlCol="0" anchor="t"/>
          <a:lstStyle/>
          <a:p>
            <a:pPr marL="0" indent="0" algn="l">
              <a:lnSpc>
                <a:spcPct val="133000"/>
              </a:lnSpc>
              <a:spcAft>
                <a:spcPts val="1650"/>
              </a:spcAft>
              <a:buNone/>
            </a:pPr>
            <a:r>
              <a:rPr lang="en-US" sz="1450" b="1" dirty="0">
                <a:solidFill>
                  <a:srgbClr val="6F655D"/>
                </a:solidFill>
                <a:latin typeface="Public Sans Bold" pitchFamily="34" charset="0"/>
                <a:ea typeface="Public Sans Bold" pitchFamily="34" charset="-122"/>
                <a:cs typeface="Public Sans Bold" pitchFamily="34" charset="-120"/>
              </a:rPr>
              <a:t>Step 13:</a:t>
            </a:r>
            <a:r>
              <a:rPr lang="en-US" sz="1450" dirty="0">
                <a:solidFill>
                  <a:srgbClr val="6F655D"/>
                </a:solidFill>
                <a:latin typeface="Public Sans" pitchFamily="34" charset="0"/>
                <a:ea typeface="Public Sans" pitchFamily="34" charset="-122"/>
                <a:cs typeface="Public Sans" pitchFamily="34" charset="-120"/>
              </a:rPr>
              <a:t> Data from students table will be displayed on home page.</a:t>
            </a:r>
            <a:endParaRPr lang="en-US" sz="1450" dirty="0"/>
          </a:p>
          <a:p>
            <a:pPr marL="0" indent="0" algn="l">
              <a:lnSpc>
                <a:spcPct val="133000"/>
              </a:lnSpc>
              <a:buNone/>
            </a:pPr>
            <a:r>
              <a:rPr lang="en-US" sz="1450" dirty="0">
                <a:solidFill>
                  <a:srgbClr val="6F655D"/>
                </a:solidFill>
                <a:latin typeface="Public Sans" pitchFamily="34" charset="0"/>
                <a:ea typeface="Public Sans" pitchFamily="34" charset="-122"/>
                <a:cs typeface="Public Sans" pitchFamily="34" charset="-120"/>
              </a:rPr>
              <a:t>Your application is now complete! The students table data will be fetched from the SQLite database and rendered as an HTML table on your home page with all the styling you added.</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1551</Words>
  <Application>Microsoft Office PowerPoint</Application>
  <PresentationFormat>Widescreen</PresentationFormat>
  <Paragraphs>199</Paragraphs>
  <Slides>12</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Public Sans Bold</vt:lpstr>
      <vt:lpstr>Arial</vt:lpstr>
      <vt:lpstr>Consolas</vt:lpstr>
      <vt:lpstr>Playfair Display SemiBold</vt:lpstr>
      <vt:lpstr>Public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Samia Ikhlaq Ahmed</cp:lastModifiedBy>
  <cp:revision>7</cp:revision>
  <dcterms:created xsi:type="dcterms:W3CDTF">2026-09-07T21:02:11Z</dcterms:created>
  <dcterms:modified xsi:type="dcterms:W3CDTF">2026-09-10T10:20:00Z</dcterms:modified>
</cp:coreProperties>
</file>